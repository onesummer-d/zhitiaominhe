
<file path=[Content_Types].xml><?xml version="1.0" encoding="utf-8"?>
<Types xmlns="http://schemas.openxmlformats.org/package/2006/content-types">
  <Default Extension="image" ContentType="image/image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51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906209" y="1994159"/>
            <a:ext cx="6732758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spcBef>
                <a:spcPts val="375"/>
              </a:spcBef>
              <a:buNone/>
              <a:defRPr lang="en-US" sz="3100" b="1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00" b="1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请输入主标题</a:t>
            </a:r>
            <a:endParaRPr lang="en-US" sz="3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[完整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906209" y="1994159"/>
            <a:ext cx="6732758" cy="10241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spcBef>
                <a:spcPts val="375"/>
              </a:spcBef>
              <a:buNone/>
              <a:defRPr lang="en-US" sz="3100" b="1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00" b="1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请输入主标题</a:t>
            </a:r>
            <a:endParaRPr lang="en-US" sz="3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57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36937" y="828461"/>
            <a:ext cx="5577840" cy="865537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请输入标题</a:t>
            </a:r>
            <a:endParaRPr lang="en-US" sz="5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页[完整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5700" dirty="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36937" y="828461"/>
            <a:ext cx="5577840" cy="865537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00000"/>
              </a:lnSpc>
              <a:spcBef>
                <a:spcPts val="375"/>
              </a:spcBef>
              <a:buNone/>
              <a:def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请输入标题</a:t>
            </a:r>
            <a:endParaRPr lang="en-US" sz="5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61336" y="194767"/>
            <a:ext cx="8736511" cy="591217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20000"/>
              </a:lnSpc>
              <a:spcBef>
                <a:spcPts val="375"/>
              </a:spcBef>
              <a:buNone/>
              <a:defRPr lang="en-US" sz="1900" dirty="0">
                <a:solidFill>
                  <a:srgbClr val="000000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defRPr>
            </a:lvl1pPr>
          </a:lstStyle>
          <a:p>
            <a:pPr marL="0" indent="0" algn="l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请输入标题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[完整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4996" y="2156484"/>
            <a:ext cx="4224528" cy="8899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 谢谢观看</a:t>
            </a:r>
            <a:endParaRPr lang="en-US" sz="1500" dirty="0"/>
          </a:p>
        </p:txBody>
      </p:sp>
      <p:pic>
        <p:nvPicPr>
          <p:cNvPr id="3" name="Image 0" descr="https://ike-mindshow-user.oss-cn-shanghai.aliyuncs.com/107/release/user_file/2025_08_12/43bce7cb5f00a108f10735604e4ac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077" y="457961"/>
            <a:ext cx="2899845" cy="2899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image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image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idx="100" hasCustomPrompt="1"/>
          </p:nvPr>
        </p:nvSpPr>
        <p:spPr>
          <a:xfrm>
            <a:off x="1906209" y="1994159"/>
            <a:ext cx="67327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00" b="1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基于AI大数据技术处理的民族地区 基层纠纷人民调解与法律适配性研究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073" y="0"/>
            <a:ext cx="5167146" cy="51671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9073" y="0"/>
            <a:ext cx="5167146" cy="5167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375"/>
              </a:spcBef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pic>
        <p:nvPicPr>
          <p:cNvPr id="4" name="Image 1" descr="https://ike-mindshow-user.oss-cn-shanghai.aliyuncs.com/107/release/user_file/2025_05_06/0f7862d76fb9e031991b330399180e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265" y="152376"/>
            <a:ext cx="1880735" cy="4181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134827" y="2384023"/>
            <a:ext cx="4485892" cy="365681"/>
          </a:xfrm>
          <a:custGeom>
            <a:avLst/>
            <a:gdLst/>
            <a:ahLst/>
            <a:cxnLst/>
            <a:rect l="l" t="t" r="r" b="b"/>
            <a:pathLst>
              <a:path w="4485892" h="365681">
                <a:moveTo>
                  <a:pt x="0" y="0"/>
                </a:moveTo>
                <a:lnTo>
                  <a:pt x="4485892" y="0"/>
                </a:lnTo>
                <a:lnTo>
                  <a:pt x="4485892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E6EA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2638323" y="2384023"/>
            <a:ext cx="709166" cy="365681"/>
          </a:xfrm>
          <a:custGeom>
            <a:avLst/>
            <a:gdLst/>
            <a:ahLst/>
            <a:cxnLst/>
            <a:rect l="l" t="t" r="r" b="b"/>
            <a:pathLst>
              <a:path w="709166" h="365681">
                <a:moveTo>
                  <a:pt x="0" y="0"/>
                </a:moveTo>
                <a:lnTo>
                  <a:pt x="496416" y="0"/>
                </a:lnTo>
                <a:lnTo>
                  <a:pt x="709166" y="182841"/>
                </a:lnTo>
                <a:lnTo>
                  <a:pt x="496416" y="365681"/>
                </a:lnTo>
                <a:lnTo>
                  <a:pt x="0" y="365681"/>
                </a:lnTo>
                <a:lnTo>
                  <a:pt x="0" y="182841"/>
                </a:lnTo>
                <a:lnTo>
                  <a:pt x="0" y="0"/>
                </a:ln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2091217" y="2384023"/>
            <a:ext cx="556250" cy="365681"/>
          </a:xfrm>
          <a:custGeom>
            <a:avLst/>
            <a:gdLst/>
            <a:ahLst/>
            <a:cxnLst/>
            <a:rect l="l" t="t" r="r" b="b"/>
            <a:pathLst>
              <a:path w="556250" h="365681">
                <a:moveTo>
                  <a:pt x="0" y="0"/>
                </a:moveTo>
                <a:lnTo>
                  <a:pt x="556250" y="0"/>
                </a:lnTo>
                <a:lnTo>
                  <a:pt x="556250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3134827" y="1785027"/>
            <a:ext cx="4485892" cy="365681"/>
          </a:xfrm>
          <a:custGeom>
            <a:avLst/>
            <a:gdLst/>
            <a:ahLst/>
            <a:cxnLst/>
            <a:rect l="l" t="t" r="r" b="b"/>
            <a:pathLst>
              <a:path w="4485892" h="365681">
                <a:moveTo>
                  <a:pt x="0" y="0"/>
                </a:moveTo>
                <a:lnTo>
                  <a:pt x="4485892" y="0"/>
                </a:lnTo>
                <a:lnTo>
                  <a:pt x="4485892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E6EA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2638323" y="1785027"/>
            <a:ext cx="709166" cy="365681"/>
          </a:xfrm>
          <a:custGeom>
            <a:avLst/>
            <a:gdLst/>
            <a:ahLst/>
            <a:cxnLst/>
            <a:rect l="l" t="t" r="r" b="b"/>
            <a:pathLst>
              <a:path w="709166" h="365681">
                <a:moveTo>
                  <a:pt x="0" y="0"/>
                </a:moveTo>
                <a:lnTo>
                  <a:pt x="496416" y="0"/>
                </a:lnTo>
                <a:lnTo>
                  <a:pt x="709166" y="182841"/>
                </a:lnTo>
                <a:lnTo>
                  <a:pt x="496416" y="365681"/>
                </a:lnTo>
                <a:lnTo>
                  <a:pt x="0" y="365681"/>
                </a:lnTo>
                <a:lnTo>
                  <a:pt x="0" y="182841"/>
                </a:lnTo>
                <a:lnTo>
                  <a:pt x="0" y="0"/>
                </a:ln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>
            <a:off x="2091217" y="1785027"/>
            <a:ext cx="556250" cy="365681"/>
          </a:xfrm>
          <a:custGeom>
            <a:avLst/>
            <a:gdLst/>
            <a:ahLst/>
            <a:cxnLst/>
            <a:rect l="l" t="t" r="r" b="b"/>
            <a:pathLst>
              <a:path w="556250" h="365681">
                <a:moveTo>
                  <a:pt x="0" y="0"/>
                </a:moveTo>
                <a:lnTo>
                  <a:pt x="556250" y="0"/>
                </a:lnTo>
                <a:lnTo>
                  <a:pt x="556250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>
            <a:off x="3134827" y="2983019"/>
            <a:ext cx="4485892" cy="365681"/>
          </a:xfrm>
          <a:custGeom>
            <a:avLst/>
            <a:gdLst/>
            <a:ahLst/>
            <a:cxnLst/>
            <a:rect l="l" t="t" r="r" b="b"/>
            <a:pathLst>
              <a:path w="4485892" h="365681">
                <a:moveTo>
                  <a:pt x="0" y="0"/>
                </a:moveTo>
                <a:lnTo>
                  <a:pt x="4485892" y="0"/>
                </a:lnTo>
                <a:lnTo>
                  <a:pt x="4485892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E6EA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2638323" y="2983019"/>
            <a:ext cx="709166" cy="365681"/>
          </a:xfrm>
          <a:custGeom>
            <a:avLst/>
            <a:gdLst/>
            <a:ahLst/>
            <a:cxnLst/>
            <a:rect l="l" t="t" r="r" b="b"/>
            <a:pathLst>
              <a:path w="709166" h="365681">
                <a:moveTo>
                  <a:pt x="0" y="0"/>
                </a:moveTo>
                <a:lnTo>
                  <a:pt x="496416" y="0"/>
                </a:lnTo>
                <a:lnTo>
                  <a:pt x="709166" y="182841"/>
                </a:lnTo>
                <a:lnTo>
                  <a:pt x="496416" y="365681"/>
                </a:lnTo>
                <a:lnTo>
                  <a:pt x="0" y="365681"/>
                </a:lnTo>
                <a:lnTo>
                  <a:pt x="0" y="182841"/>
                </a:lnTo>
                <a:lnTo>
                  <a:pt x="0" y="0"/>
                </a:ln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2091217" y="2983019"/>
            <a:ext cx="556250" cy="365681"/>
          </a:xfrm>
          <a:custGeom>
            <a:avLst/>
            <a:gdLst/>
            <a:ahLst/>
            <a:cxnLst/>
            <a:rect l="l" t="t" r="r" b="b"/>
            <a:pathLst>
              <a:path w="556250" h="365681">
                <a:moveTo>
                  <a:pt x="0" y="0"/>
                </a:moveTo>
                <a:lnTo>
                  <a:pt x="556250" y="0"/>
                </a:lnTo>
                <a:lnTo>
                  <a:pt x="556250" y="365681"/>
                </a:lnTo>
                <a:lnTo>
                  <a:pt x="0" y="365681"/>
                </a:ln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4024141" y="579644"/>
            <a:ext cx="1187158" cy="70094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2500" dirty="0">
                <a:solidFill>
                  <a:srgbClr val="000000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目录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008921" y="1746911"/>
            <a:ext cx="1350245" cy="496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第一部分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12952" y="1752983"/>
            <a:ext cx="4299207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项目背景与意义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008921" y="2362617"/>
            <a:ext cx="1350245" cy="496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第二部分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12952" y="2368689"/>
            <a:ext cx="4299207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研究内容与创新点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008921" y="2944903"/>
            <a:ext cx="1350245" cy="496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第三部分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412952" y="2950976"/>
            <a:ext cx="4299207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6161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预期成果与实施计划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636937" y="828461"/>
            <a:ext cx="5577840" cy="8655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项目背景与意义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336" y="1200013"/>
            <a:ext cx="3130522" cy="3130522"/>
          </a:xfrm>
          <a:custGeom>
            <a:avLst/>
            <a:gdLst/>
            <a:ahLst/>
            <a:cxnLst/>
            <a:rect l="l" t="t" r="r" b="b"/>
            <a:pathLst>
              <a:path w="3130522" h="3130522">
                <a:moveTo>
                  <a:pt x="1565261" y="0"/>
                </a:moveTo>
                <a:cubicBezTo>
                  <a:pt x="2429152" y="0"/>
                  <a:pt x="3130522" y="701370"/>
                  <a:pt x="3130522" y="1565261"/>
                </a:cubicBezTo>
                <a:cubicBezTo>
                  <a:pt x="3130522" y="2429152"/>
                  <a:pt x="2429152" y="3130522"/>
                  <a:pt x="1565261" y="3130522"/>
                </a:cubicBezTo>
                <a:cubicBezTo>
                  <a:pt x="701370" y="3130522"/>
                  <a:pt x="0" y="2429152"/>
                  <a:pt x="0" y="1565261"/>
                </a:cubicBezTo>
                <a:cubicBezTo>
                  <a:pt x="0" y="701370"/>
                  <a:pt x="701370" y="0"/>
                  <a:pt x="1565261" y="0"/>
                </a:cubicBezTo>
                <a:close/>
              </a:path>
            </a:pathLst>
          </a:custGeom>
          <a:solidFill>
            <a:srgbClr val="43536A">
              <a:alpha val="3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712534" y="1137205"/>
            <a:ext cx="3130522" cy="3130522"/>
          </a:xfrm>
          <a:custGeom>
            <a:avLst/>
            <a:gdLst/>
            <a:ahLst/>
            <a:cxnLst/>
            <a:rect l="l" t="t" r="r" b="b"/>
            <a:pathLst>
              <a:path w="3130522" h="3130522">
                <a:moveTo>
                  <a:pt x="1565261" y="0"/>
                </a:moveTo>
                <a:cubicBezTo>
                  <a:pt x="2429152" y="0"/>
                  <a:pt x="3130522" y="701370"/>
                  <a:pt x="3130522" y="1565261"/>
                </a:cubicBezTo>
                <a:cubicBezTo>
                  <a:pt x="3130522" y="2429152"/>
                  <a:pt x="2429152" y="3130522"/>
                  <a:pt x="1565261" y="3130522"/>
                </a:cubicBezTo>
                <a:cubicBezTo>
                  <a:pt x="701370" y="3130522"/>
                  <a:pt x="0" y="2429152"/>
                  <a:pt x="0" y="1565261"/>
                </a:cubicBezTo>
                <a:cubicBezTo>
                  <a:pt x="0" y="701370"/>
                  <a:pt x="701370" y="0"/>
                  <a:pt x="1565261" y="0"/>
                </a:cubicBezTo>
                <a:close/>
              </a:path>
            </a:pathLst>
          </a:custGeom>
          <a:solidFill>
            <a:srgbClr val="43536A">
              <a:alpha val="30000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2"/>
          <p:cNvSpPr/>
          <p:nvPr/>
        </p:nvSpPr>
        <p:spPr>
          <a:xfrm>
            <a:off x="2952956" y="1168609"/>
            <a:ext cx="3130522" cy="3130522"/>
          </a:xfrm>
          <a:custGeom>
            <a:avLst/>
            <a:gdLst/>
            <a:ahLst/>
            <a:cxnLst/>
            <a:rect l="l" t="t" r="r" b="b"/>
            <a:pathLst>
              <a:path w="3130522" h="3130522">
                <a:moveTo>
                  <a:pt x="1565261" y="0"/>
                </a:moveTo>
                <a:cubicBezTo>
                  <a:pt x="2429152" y="0"/>
                  <a:pt x="3130522" y="701370"/>
                  <a:pt x="3130522" y="1565261"/>
                </a:cubicBezTo>
                <a:cubicBezTo>
                  <a:pt x="3130522" y="2429152"/>
                  <a:pt x="2429152" y="3130522"/>
                  <a:pt x="1565261" y="3130522"/>
                </a:cubicBezTo>
                <a:cubicBezTo>
                  <a:pt x="701370" y="3130522"/>
                  <a:pt x="0" y="2429152"/>
                  <a:pt x="0" y="1565261"/>
                </a:cubicBezTo>
                <a:cubicBezTo>
                  <a:pt x="0" y="701370"/>
                  <a:pt x="701370" y="0"/>
                  <a:pt x="1565261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70681" y="2260068"/>
            <a:ext cx="2273714" cy="13530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+mn-ea"/>
                <a:cs typeface="阿里巴巴普惠体 Light" pitchFamily="34" charset="-120"/>
              </a:rPr>
              <a:t>民族地区长期存在习惯法与国家法律并行的多元规范体系，二者在纠纷解决中常出现适用冲突，需通过调解实现融合互补</a:t>
            </a:r>
            <a:endParaRPr lang="en-US" sz="15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5439" y="1661206"/>
            <a:ext cx="2463119" cy="496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700" b="1" dirty="0">
                <a:solidFill>
                  <a:srgbClr val="4B5D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阿里巴巴普惠体 Medium" pitchFamily="34" charset="-120"/>
              </a:rPr>
              <a:t>习惯法与国法并存格局</a:t>
            </a:r>
            <a:endParaRPr lang="en-US" sz="1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5"/>
          <p:cNvSpPr>
            <a:spLocks noGrp="1"/>
          </p:cNvSpPr>
          <p:nvPr>
            <p:ph type="title" idx="100" hasCustomPrompt="1"/>
          </p:nvPr>
        </p:nvSpPr>
        <p:spPr>
          <a:xfrm>
            <a:off x="461336" y="194767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现状背景分析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90345" y="2207989"/>
            <a:ext cx="2383788" cy="111899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altLang="zh-CN" sz="1300" dirty="0" err="1">
                <a:solidFill>
                  <a:srgbClr val="FFFFFF"/>
                </a:solidFill>
                <a:latin typeface="+mn-ea"/>
                <a:cs typeface="阿里巴巴普惠体 Light" pitchFamily="34" charset="-120"/>
              </a:rPr>
              <a:t>人工智能技术可准确感知、预测、预警社会运行重大态势，显著提升基层调解效率与专业性，推动治理能力现代化</a:t>
            </a:r>
            <a:endParaRPr lang="en-US" altLang="zh-CN" sz="1300" dirty="0">
              <a:latin typeface="+mn-ea"/>
            </a:endParaRPr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56787" y="1679809"/>
            <a:ext cx="2322860" cy="496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altLang="zh-CN" sz="1700" b="1" dirty="0" err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阿里巴巴普惠体 Medium" pitchFamily="34" charset="-120"/>
              </a:rPr>
              <a:t>技术提升治理能力</a:t>
            </a:r>
            <a:endParaRPr lang="en-US" altLang="zh-CN" sz="1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endParaRPr lang="en-US" sz="1500" b="1" dirty="0"/>
          </a:p>
        </p:txBody>
      </p:sp>
      <p:sp>
        <p:nvSpPr>
          <p:cNvPr id="10" name="Text 8"/>
          <p:cNvSpPr/>
          <p:nvPr/>
        </p:nvSpPr>
        <p:spPr>
          <a:xfrm>
            <a:off x="6185988" y="2240494"/>
            <a:ext cx="2432232" cy="111899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zh-CN" altLang="en-US" sz="1300" dirty="0">
                <a:latin typeface="+mn-ea"/>
              </a:rPr>
              <a:t>将技术应用、法规执行与民俗习惯三者融合，形成协同治理体系，以优化社会治理资源提升民族地区治理能力</a:t>
            </a:r>
            <a:endParaRPr lang="en-US" sz="13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4947" y="1661206"/>
            <a:ext cx="2183614" cy="496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zh-CN" altLang="en-US" sz="1700" b="1" dirty="0">
                <a:solidFill>
                  <a:srgbClr val="4B5D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阿里巴巴普惠体 Medium" pitchFamily="34" charset="-120"/>
              </a:rPr>
              <a:t>技术赋能 法俗协同</a:t>
            </a:r>
            <a:endParaRPr lang="en-US" altLang="zh-CN" sz="1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219" y="1091667"/>
            <a:ext cx="3345341" cy="3345341"/>
          </a:xfrm>
          <a:custGeom>
            <a:avLst/>
            <a:gdLst/>
            <a:ahLst/>
            <a:cxnLst/>
            <a:rect l="l" t="t" r="r" b="b"/>
            <a:pathLst>
              <a:path w="3345341" h="3345341">
                <a:moveTo>
                  <a:pt x="1672671" y="0"/>
                </a:moveTo>
                <a:cubicBezTo>
                  <a:pt x="2595843" y="0"/>
                  <a:pt x="3345341" y="749499"/>
                  <a:pt x="3345341" y="1672671"/>
                </a:cubicBezTo>
                <a:cubicBezTo>
                  <a:pt x="3345341" y="2595843"/>
                  <a:pt x="2595843" y="3345341"/>
                  <a:pt x="1672671" y="3345341"/>
                </a:cubicBezTo>
                <a:cubicBezTo>
                  <a:pt x="749499" y="3345341"/>
                  <a:pt x="0" y="2595843"/>
                  <a:pt x="0" y="1672671"/>
                </a:cubicBezTo>
                <a:cubicBezTo>
                  <a:pt x="0" y="749499"/>
                  <a:pt x="749499" y="0"/>
                  <a:pt x="1672671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0" hasCustomPrompt="1"/>
          </p:nvPr>
        </p:nvSpPr>
        <p:spPr>
          <a:xfrm>
            <a:off x="498929" y="178385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项目意义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Image 0" descr="https://card-ai-public.oss-cn-hangzhou.aliyuncs.com/107/release/user_file/2024_04_14/d454087e0509ba8a28df48cf6f55cd67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091667"/>
            <a:ext cx="3345341" cy="3345341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1874" y="1797833"/>
            <a:ext cx="2876662" cy="116025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zh-CN" altLang="en-US" sz="1300" dirty="0">
                <a:solidFill>
                  <a:schemeClr val="bg1"/>
                </a:solidFill>
              </a:rPr>
              <a:t>通过多学科交叉融合，构建了技术赋能与人文关怀并重的民族地区治理新范式，不仅为破解基层调解困境提供了高效方案，更通过“法俗协同”的治理智慧铸牢中华民族共同体意识，对推进民族地区治理现代化具有重大创新价值与示范意义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636937" y="828461"/>
            <a:ext cx="5577840" cy="8655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研究内容与创新点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64830" y="1522659"/>
            <a:ext cx="2098183" cy="2098183"/>
          </a:xfrm>
          <a:custGeom>
            <a:avLst/>
            <a:gdLst/>
            <a:ahLst/>
            <a:cxnLst/>
            <a:rect l="l" t="t" r="r" b="b"/>
            <a:pathLst>
              <a:path w="2098183" h="2098183">
                <a:moveTo>
                  <a:pt x="1049091" y="0"/>
                </a:moveTo>
                <a:cubicBezTo>
                  <a:pt x="1628101" y="0"/>
                  <a:pt x="2098183" y="470082"/>
                  <a:pt x="2098183" y="1049091"/>
                </a:cubicBezTo>
                <a:cubicBezTo>
                  <a:pt x="2098183" y="1628101"/>
                  <a:pt x="1628101" y="2098183"/>
                  <a:pt x="1049091" y="2098183"/>
                </a:cubicBezTo>
                <a:cubicBezTo>
                  <a:pt x="470082" y="2098183"/>
                  <a:pt x="0" y="1628101"/>
                  <a:pt x="0" y="1049091"/>
                </a:cubicBezTo>
                <a:cubicBezTo>
                  <a:pt x="0" y="470082"/>
                  <a:pt x="470082" y="0"/>
                  <a:pt x="1049091" y="0"/>
                </a:cubicBezTo>
                <a:close/>
              </a:path>
            </a:pathLst>
          </a:custGeom>
          <a:solidFill>
            <a:srgbClr val="43536A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360504" y="1522659"/>
            <a:ext cx="2098183" cy="2098183"/>
          </a:xfrm>
          <a:custGeom>
            <a:avLst/>
            <a:gdLst/>
            <a:ahLst/>
            <a:cxnLst/>
            <a:rect l="l" t="t" r="r" b="b"/>
            <a:pathLst>
              <a:path w="2098183" h="2098183">
                <a:moveTo>
                  <a:pt x="1049091" y="0"/>
                </a:moveTo>
                <a:cubicBezTo>
                  <a:pt x="1628101" y="0"/>
                  <a:pt x="2098183" y="470082"/>
                  <a:pt x="2098183" y="1049091"/>
                </a:cubicBezTo>
                <a:cubicBezTo>
                  <a:pt x="2098183" y="1628101"/>
                  <a:pt x="1628101" y="2098183"/>
                  <a:pt x="1049091" y="2098183"/>
                </a:cubicBezTo>
                <a:cubicBezTo>
                  <a:pt x="470082" y="2098183"/>
                  <a:pt x="0" y="1628101"/>
                  <a:pt x="0" y="1049091"/>
                </a:cubicBezTo>
                <a:cubicBezTo>
                  <a:pt x="0" y="470082"/>
                  <a:pt x="470082" y="0"/>
                  <a:pt x="1049091" y="0"/>
                </a:cubicBezTo>
                <a:close/>
              </a:path>
            </a:pathLst>
          </a:custGeom>
          <a:solidFill>
            <a:srgbClr val="43536A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>
            <a:spLocks noGrp="1"/>
          </p:cNvSpPr>
          <p:nvPr>
            <p:ph type="title" idx="100" hasCustomPrompt="1"/>
          </p:nvPr>
        </p:nvSpPr>
        <p:spPr>
          <a:xfrm>
            <a:off x="444145" y="309439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核心研究目标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145" y="2297001"/>
            <a:ext cx="2446597" cy="13530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利用AI大数据库优势，配合基层工作人员，实现高效率、近距离、深层次的人民调解，让群众更快速便捷地解决矛盾，推动和谐社区建设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30357" y="2304788"/>
            <a:ext cx="1798610" cy="5522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Heavy" pitchFamily="34" charset="0"/>
                <a:ea typeface="阿里巴巴普惠体 Heavy" pitchFamily="34" charset="-122"/>
                <a:cs typeface="阿里巴巴普惠体 Heavy" pitchFamily="34" charset="-120"/>
              </a:rPr>
              <a:t>人民调解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58687" y="1819198"/>
            <a:ext cx="2434870" cy="13530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通过AI技术融合民族习惯法与国家法律，促进民间解纷方式与司法衔接，助力形成有机整合的传统与现代共治的多元纠纷化解格局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37527" y="2304788"/>
            <a:ext cx="1798610" cy="5522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阿里巴巴普惠体 Heavy" pitchFamily="34" charset="0"/>
                <a:ea typeface="阿里巴巴普惠体 Heavy" pitchFamily="34" charset="-122"/>
                <a:cs typeface="阿里巴巴普惠体 Heavy" pitchFamily="34" charset="-120"/>
              </a:rPr>
              <a:t>融合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400" y="1757505"/>
            <a:ext cx="2434870" cy="5303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700" b="1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实现高效近距离调解</a:t>
            </a:r>
            <a:endParaRPr lang="en-US" sz="1500" b="1" dirty="0"/>
          </a:p>
        </p:txBody>
      </p:sp>
      <p:sp>
        <p:nvSpPr>
          <p:cNvPr id="10" name="Text 8"/>
          <p:cNvSpPr/>
          <p:nvPr/>
        </p:nvSpPr>
        <p:spPr>
          <a:xfrm>
            <a:off x="6458687" y="1275771"/>
            <a:ext cx="2434870" cy="5303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700" b="1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健全多元纠纷化解机制</a:t>
            </a:r>
            <a:endParaRPr lang="en-US" sz="15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3237" y="3036237"/>
            <a:ext cx="2314669" cy="111899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AI工具具备高效数据处理能力，可快速分析纠纷背景并生成调解建议，提升服务响应速度与覆盖面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1364" y="2590038"/>
            <a:ext cx="2498416" cy="5303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700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提高调解效率减负增效</a:t>
            </a:r>
            <a:endParaRPr lang="en-US" sz="1500" dirty="0"/>
          </a:p>
        </p:txBody>
      </p:sp>
      <p:sp>
        <p:nvSpPr>
          <p:cNvPr id="4" name="Text 2"/>
          <p:cNvSpPr>
            <a:spLocks noGrp="1"/>
          </p:cNvSpPr>
          <p:nvPr>
            <p:ph type="title" idx="100" hasCustomPrompt="1"/>
          </p:nvPr>
        </p:nvSpPr>
        <p:spPr>
          <a:xfrm>
            <a:off x="407489" y="326049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技术赋能核心优势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82461" y="2162127"/>
            <a:ext cx="2529141" cy="111899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AI基于法律条文和案例数据进行推理，减少人为情感与偏见干扰，提升结果的公正性与公信力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82461" y="1707035"/>
            <a:ext cx="2365156" cy="5303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700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增强方案逻辑公平性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2747" y="1297848"/>
            <a:ext cx="2314740" cy="13530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AI可结合多源数据生成多种调解路径，提供多样化解决方案，辅助人工决策，实现更全面、多元、深层次的纠纷化解策略选择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2747" y="831504"/>
            <a:ext cx="2265524" cy="5303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700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多方案生成优化选择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4794" y="2571750"/>
            <a:ext cx="556570" cy="556570"/>
          </a:xfrm>
          <a:custGeom>
            <a:avLst/>
            <a:gdLst/>
            <a:ahLst/>
            <a:cxnLst/>
            <a:rect l="l" t="t" r="r" b="b"/>
            <a:pathLst>
              <a:path w="556570" h="556570">
                <a:moveTo>
                  <a:pt x="278285" y="0"/>
                </a:moveTo>
                <a:cubicBezTo>
                  <a:pt x="431875" y="0"/>
                  <a:pt x="556570" y="124695"/>
                  <a:pt x="556570" y="278285"/>
                </a:cubicBezTo>
                <a:cubicBezTo>
                  <a:pt x="556570" y="431875"/>
                  <a:pt x="431875" y="556570"/>
                  <a:pt x="278285" y="556570"/>
                </a:cubicBezTo>
                <a:cubicBezTo>
                  <a:pt x="124695" y="556570"/>
                  <a:pt x="0" y="431875"/>
                  <a:pt x="0" y="278285"/>
                </a:cubicBezTo>
                <a:cubicBezTo>
                  <a:pt x="0" y="124695"/>
                  <a:pt x="124695" y="0"/>
                  <a:pt x="278285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33079" y="3128320"/>
            <a:ext cx="0" cy="2015180"/>
          </a:xfrm>
          <a:custGeom>
            <a:avLst/>
            <a:gdLst/>
            <a:ahLst/>
            <a:cxnLst/>
            <a:rect l="l" t="t" r="r" b="b"/>
            <a:pathLst>
              <a:path h="2015180">
                <a:moveTo>
                  <a:pt x="0" y="0"/>
                </a:moveTo>
                <a:lnTo>
                  <a:pt x="0" y="2015180"/>
                </a:lnTo>
              </a:path>
            </a:pathLst>
          </a:custGeom>
          <a:noFill/>
          <a:ln w="19050">
            <a:solidFill>
              <a:srgbClr val="4353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25891" y="1708263"/>
            <a:ext cx="556570" cy="556570"/>
          </a:xfrm>
          <a:custGeom>
            <a:avLst/>
            <a:gdLst/>
            <a:ahLst/>
            <a:cxnLst/>
            <a:rect l="l" t="t" r="r" b="b"/>
            <a:pathLst>
              <a:path w="556570" h="556570">
                <a:moveTo>
                  <a:pt x="278285" y="0"/>
                </a:moveTo>
                <a:cubicBezTo>
                  <a:pt x="431875" y="0"/>
                  <a:pt x="556570" y="124695"/>
                  <a:pt x="556570" y="278285"/>
                </a:cubicBezTo>
                <a:cubicBezTo>
                  <a:pt x="556570" y="431875"/>
                  <a:pt x="431875" y="556570"/>
                  <a:pt x="278285" y="556570"/>
                </a:cubicBezTo>
                <a:cubicBezTo>
                  <a:pt x="124695" y="556570"/>
                  <a:pt x="0" y="431875"/>
                  <a:pt x="0" y="278285"/>
                </a:cubicBezTo>
                <a:cubicBezTo>
                  <a:pt x="0" y="124695"/>
                  <a:pt x="124695" y="0"/>
                  <a:pt x="278285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504176" y="2264833"/>
            <a:ext cx="0" cy="2878667"/>
          </a:xfrm>
          <a:custGeom>
            <a:avLst/>
            <a:gdLst/>
            <a:ahLst/>
            <a:cxnLst/>
            <a:rect l="l" t="t" r="r" b="b"/>
            <a:pathLst>
              <a:path h="2878667">
                <a:moveTo>
                  <a:pt x="0" y="0"/>
                </a:moveTo>
                <a:lnTo>
                  <a:pt x="0" y="2878667"/>
                </a:lnTo>
              </a:path>
            </a:pathLst>
          </a:custGeom>
          <a:noFill/>
          <a:ln w="19050">
            <a:solidFill>
              <a:srgbClr val="4353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56177" y="813216"/>
            <a:ext cx="556570" cy="556570"/>
          </a:xfrm>
          <a:custGeom>
            <a:avLst/>
            <a:gdLst/>
            <a:ahLst/>
            <a:cxnLst/>
            <a:rect l="l" t="t" r="r" b="b"/>
            <a:pathLst>
              <a:path w="556570" h="556570">
                <a:moveTo>
                  <a:pt x="278285" y="0"/>
                </a:moveTo>
                <a:cubicBezTo>
                  <a:pt x="431875" y="0"/>
                  <a:pt x="556570" y="124695"/>
                  <a:pt x="556570" y="278285"/>
                </a:cubicBezTo>
                <a:cubicBezTo>
                  <a:pt x="556570" y="431875"/>
                  <a:pt x="431875" y="556570"/>
                  <a:pt x="278285" y="556570"/>
                </a:cubicBezTo>
                <a:cubicBezTo>
                  <a:pt x="124695" y="556570"/>
                  <a:pt x="0" y="431875"/>
                  <a:pt x="0" y="278285"/>
                </a:cubicBezTo>
                <a:cubicBezTo>
                  <a:pt x="0" y="124695"/>
                  <a:pt x="124695" y="0"/>
                  <a:pt x="278285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34462" y="1369786"/>
            <a:ext cx="0" cy="3773714"/>
          </a:xfrm>
          <a:custGeom>
            <a:avLst/>
            <a:gdLst/>
            <a:ahLst/>
            <a:cxnLst/>
            <a:rect l="l" t="t" r="r" b="b"/>
            <a:pathLst>
              <a:path h="3773714">
                <a:moveTo>
                  <a:pt x="0" y="0"/>
                </a:moveTo>
                <a:lnTo>
                  <a:pt x="0" y="3773714"/>
                </a:lnTo>
              </a:path>
            </a:pathLst>
          </a:custGeom>
          <a:noFill/>
          <a:ln w="19050">
            <a:solidFill>
              <a:srgbClr val="4353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242" y="2657277"/>
            <a:ext cx="371673" cy="371673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8340" y="1800712"/>
            <a:ext cx="371673" cy="371673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0162" y="977201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ard-ai-public.oss-cn-hangzhou.aliyuncs.com/107/user_file/2024_01_31/01d3519ed26d9206751a16fa02d0ae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65" y="1222634"/>
            <a:ext cx="4950135" cy="2769470"/>
          </a:xfrm>
          <a:prstGeom prst="rect">
            <a:avLst/>
          </a:prstGeom>
        </p:spPr>
      </p:pic>
      <p:pic>
        <p:nvPicPr>
          <p:cNvPr id="3" name="Image 1" descr="https://card-ai-public.oss-cn-hangzhou.aliyuncs.com/107/release/user_file/2024_04_14/08d878ea520a6eb7600b0c2c87116d8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775" y="1531974"/>
            <a:ext cx="3140891" cy="176675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3182" y="309439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助力铸牢中华民族共同体意识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1"/>
          <p:cNvSpPr/>
          <p:nvPr/>
        </p:nvSpPr>
        <p:spPr>
          <a:xfrm>
            <a:off x="630653" y="1844279"/>
            <a:ext cx="4032787" cy="119700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 err="1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通过AI大数据技术赋能民族地区基层调解，推动国家法律与民族习惯有机融合，促进民族团结与社会和谐，切实铸牢中华民族共同体意识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0" y="3283268"/>
            <a:ext cx="2340864" cy="93868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idx="101" hasCustomPrompt="1"/>
          </p:nvPr>
        </p:nvSpPr>
        <p:spPr>
          <a:xfrm>
            <a:off x="473119" y="762933"/>
            <a:ext cx="6323212" cy="8655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预期成果与实施计划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9520" y="252103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可视化研究成果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Image 0" descr="https://ike-mindshow-user.oss-cn-shanghai.aliyuncs.com/107/release/file/eba22e59531e014012be5bd73248a579.imag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9785" y="1414070"/>
            <a:ext cx="2324431" cy="2324431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529" y="1905846"/>
            <a:ext cx="2720439" cy="1587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通过实地走访、问卷调查与案例分析，系统梳理民族地区基层纠纷中习惯法与成文法的冲突现状，总结法律工作者在调解实践中面临的现实困境，形成具有实践指导意义的可视化调研报告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63938" y="1432358"/>
            <a:ext cx="2638530" cy="4643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700" b="1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形成调研报告</a:t>
            </a:r>
            <a:endParaRPr lang="en-US" sz="1500" b="1" dirty="0"/>
          </a:p>
        </p:txBody>
      </p:sp>
      <p:sp>
        <p:nvSpPr>
          <p:cNvPr id="6" name="Text 3"/>
          <p:cNvSpPr/>
          <p:nvPr/>
        </p:nvSpPr>
        <p:spPr>
          <a:xfrm>
            <a:off x="6048315" y="1896702"/>
            <a:ext cx="2778204" cy="1587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基于AI大模型与大数据技术，构建可模拟民族地区纠纷调解过程的演示系统，集成法律条文匹配、习俗适配建议与调解方案推荐功能，助力基层调解工作智能化、精准化发展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50724" y="1414070"/>
            <a:ext cx="2638958" cy="4643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700" b="1" dirty="0">
                <a:solidFill>
                  <a:srgbClr val="4B5D77"/>
                </a:solidFill>
                <a:latin typeface="阿里巴巴普惠体 Medium" pitchFamily="34" charset="0"/>
                <a:ea typeface="阿里巴巴普惠体 Medium" pitchFamily="34" charset="-122"/>
                <a:cs typeface="阿里巴巴普惠体 Medium" pitchFamily="34" charset="-120"/>
              </a:rPr>
              <a:t>输出AI演示模型</a:t>
            </a:r>
            <a:endParaRPr lang="en-US" sz="1500" b="1" dirty="0"/>
          </a:p>
        </p:txBody>
      </p:sp>
      <p:sp>
        <p:nvSpPr>
          <p:cNvPr id="8" name="Shape 5"/>
          <p:cNvSpPr/>
          <p:nvPr/>
        </p:nvSpPr>
        <p:spPr>
          <a:xfrm>
            <a:off x="5242385" y="3228060"/>
            <a:ext cx="510441" cy="510441"/>
          </a:xfrm>
          <a:custGeom>
            <a:avLst/>
            <a:gdLst/>
            <a:ahLst/>
            <a:cxnLst/>
            <a:rect l="l" t="t" r="r" b="b"/>
            <a:pathLst>
              <a:path w="510441" h="510441">
                <a:moveTo>
                  <a:pt x="255221" y="0"/>
                </a:moveTo>
                <a:cubicBezTo>
                  <a:pt x="396081" y="0"/>
                  <a:pt x="510441" y="114361"/>
                  <a:pt x="510441" y="255221"/>
                </a:cubicBezTo>
                <a:cubicBezTo>
                  <a:pt x="510441" y="396081"/>
                  <a:pt x="396081" y="510441"/>
                  <a:pt x="255221" y="510441"/>
                </a:cubicBezTo>
                <a:cubicBezTo>
                  <a:pt x="114361" y="510441"/>
                  <a:pt x="0" y="396081"/>
                  <a:pt x="0" y="255221"/>
                </a:cubicBezTo>
                <a:cubicBezTo>
                  <a:pt x="0" y="114361"/>
                  <a:pt x="114361" y="0"/>
                  <a:pt x="255221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53732" y="301249"/>
            <a:ext cx="8736511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9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分阶段推进计划</a:t>
            </a:r>
            <a:endParaRPr lang="en-US" sz="15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993" y="1342333"/>
            <a:ext cx="3755995" cy="22319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项目分六个阶段推进：</a:t>
            </a:r>
            <a:endParaRPr lang="en-US" sz="1500" dirty="0"/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前期文献查阅与申报（2025.10-11）</a:t>
            </a:r>
            <a:endParaRPr lang="en-US" sz="1500" dirty="0"/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理论体系构建（2025.11-12）</a:t>
            </a:r>
            <a:endParaRPr lang="en-US" sz="1500" dirty="0"/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数据方案制定（2025.12-2026.1）</a:t>
            </a:r>
            <a:endParaRPr lang="en-US" sz="1500" dirty="0"/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实地调研与数据收集（2026.1-3）</a:t>
            </a:r>
            <a:endParaRPr lang="en-US" sz="1500" dirty="0"/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数据分析与论文撰写（2026.3-4）</a:t>
            </a:r>
            <a:endParaRPr lang="en-US" sz="1500" dirty="0"/>
          </a:p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阿里巴巴普惠体 Light" pitchFamily="34" charset="0"/>
                <a:ea typeface="阿里巴巴普惠体 Light" pitchFamily="34" charset="-122"/>
                <a:cs typeface="阿里巴巴普惠体 Light" pitchFamily="34" charset="-120"/>
              </a:rPr>
              <a:t>成果完善与结项答辩（2026.4-6）</a:t>
            </a:r>
            <a:endParaRPr lang="en-US" sz="1500" dirty="0"/>
          </a:p>
        </p:txBody>
      </p:sp>
      <p:pic>
        <p:nvPicPr>
          <p:cNvPr id="4" name="Image 0" descr="https://ike-mindshow-user.oss-cn-shanghai.aliyuncs.com/107/release/file/2bc8962606e8885941f94042193911eb.imag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7359" y="1223162"/>
            <a:ext cx="2697176" cy="2697176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87558" y="1342333"/>
            <a:ext cx="2697176" cy="2697176"/>
          </a:xfrm>
          <a:custGeom>
            <a:avLst/>
            <a:gdLst/>
            <a:ahLst/>
            <a:cxnLst/>
            <a:rect l="l" t="t" r="r" b="b"/>
            <a:pathLst>
              <a:path w="2697176" h="2697176">
                <a:moveTo>
                  <a:pt x="1348588" y="0"/>
                </a:moveTo>
                <a:cubicBezTo>
                  <a:pt x="2092894" y="0"/>
                  <a:pt x="2697176" y="604282"/>
                  <a:pt x="2697176" y="1348588"/>
                </a:cubicBezTo>
                <a:cubicBezTo>
                  <a:pt x="2697176" y="2092894"/>
                  <a:pt x="2092894" y="2697176"/>
                  <a:pt x="1348588" y="2697176"/>
                </a:cubicBezTo>
                <a:cubicBezTo>
                  <a:pt x="604282" y="2697176"/>
                  <a:pt x="0" y="2092894"/>
                  <a:pt x="0" y="1348588"/>
                </a:cubicBezTo>
                <a:cubicBezTo>
                  <a:pt x="0" y="604282"/>
                  <a:pt x="604282" y="0"/>
                  <a:pt x="1348588" y="0"/>
                </a:cubicBezTo>
                <a:close/>
              </a:path>
            </a:pathLst>
          </a:custGeom>
          <a:solidFill>
            <a:srgbClr val="4353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687558" y="2394684"/>
            <a:ext cx="2788616" cy="59121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900" dirty="0">
                <a:solidFill>
                  <a:srgbClr val="FFFFFF"/>
                </a:solidFill>
                <a:latin typeface="阿里巴巴普惠体 Heavy" pitchFamily="34" charset="0"/>
                <a:ea typeface="阿里巴巴普惠体 Heavy" pitchFamily="34" charset="-122"/>
                <a:cs typeface="阿里巴巴普惠体 Heavy" pitchFamily="34" charset="-120"/>
              </a:rPr>
              <a:t>2026.6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4996" y="2156484"/>
            <a:ext cx="4224528" cy="8899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100" dirty="0">
                <a:solidFill>
                  <a:srgbClr val="43536A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 谢谢观看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272</Words>
  <Application>Microsoft Office PowerPoint</Application>
  <PresentationFormat>全屏显示(16:9)</PresentationFormat>
  <Paragraphs>68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阿里巴巴普惠体 Heavy</vt:lpstr>
      <vt:lpstr>阿里巴巴普惠体 Light</vt:lpstr>
      <vt:lpstr>阿里巴巴普惠体 Medium</vt:lpstr>
      <vt:lpstr>黑体</vt:lpstr>
      <vt:lpstr>Arial</vt:lpstr>
      <vt:lpstr>Calibri</vt:lpstr>
      <vt:lpstr>微软雅黑</vt:lpstr>
      <vt:lpstr>Office Theme</vt:lpstr>
      <vt:lpstr>PowerPoint 演示文稿</vt:lpstr>
      <vt:lpstr>PowerPoint 演示文稿</vt:lpstr>
      <vt:lpstr>01</vt:lpstr>
      <vt:lpstr>现状背景分析</vt:lpstr>
      <vt:lpstr>项目意义</vt:lpstr>
      <vt:lpstr>02</vt:lpstr>
      <vt:lpstr>核心研究目标</vt:lpstr>
      <vt:lpstr>技术赋能核心优势</vt:lpstr>
      <vt:lpstr>助力铸牢中华民族共同体意识</vt:lpstr>
      <vt:lpstr>05</vt:lpstr>
      <vt:lpstr>可视化研究成果</vt:lpstr>
      <vt:lpstr>分阶段推进计划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一夏 邓</cp:lastModifiedBy>
  <cp:revision>5</cp:revision>
  <dcterms:created xsi:type="dcterms:W3CDTF">2025-11-01T09:22:41Z</dcterms:created>
  <dcterms:modified xsi:type="dcterms:W3CDTF">2025-11-01T13:28:01Z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{"Label":"MindShow AIPPT","ContentProducer":"MindShow","ProducelD":"mindshow","ReservedCodel":"1","ContentPropagator":"mindshow","PropagatelD":"1","ReservedCode2":"0"}</vt:lpwstr>
  </property>
</Properties>
</file>