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16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74" r:id="rId9"/>
    <p:sldId id="272" r:id="rId10"/>
    <p:sldId id="273" r:id="rId11"/>
    <p:sldId id="265" r:id="rId12"/>
    <p:sldId id="269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3536A"/>
    <a:srgbClr val="61616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68" y="3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封面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idx="100" hasCustomPrompt="1"/>
          </p:nvPr>
        </p:nvSpPr>
        <p:spPr>
          <a:xfrm>
            <a:off x="1906209" y="1994159"/>
            <a:ext cx="6732758" cy="1024128"/>
          </a:xfrm>
          <a:prstGeom prst="rect">
            <a:avLst/>
          </a:prstGeom>
          <a:noFill/>
        </p:spPr>
        <p:txBody>
          <a:bodyPr wrap="square" rtlCol="0"/>
          <a:lstStyle>
            <a:lvl1pPr marL="0" indent="0" algn="l">
              <a:lnSpc>
                <a:spcPct val="100000"/>
              </a:lnSpc>
              <a:spcBef>
                <a:spcPts val="375"/>
              </a:spcBef>
              <a:buNone/>
              <a:defRPr lang="en-US" sz="3100" b="1" dirty="0">
                <a:solidFill>
                  <a:srgbClr val="4353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defRPr>
            </a:lvl1pPr>
          </a:lstStyle>
          <a:p>
            <a:pPr marL="0" indent="0" algn="l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3100" b="1" dirty="0">
                <a:solidFill>
                  <a:srgbClr val="4353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请输入主标题</a:t>
            </a:r>
            <a:endParaRPr lang="en-US" sz="31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封面[完整]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idx="100" hasCustomPrompt="1"/>
          </p:nvPr>
        </p:nvSpPr>
        <p:spPr>
          <a:xfrm>
            <a:off x="1906209" y="1994159"/>
            <a:ext cx="6732758" cy="1024128"/>
          </a:xfrm>
          <a:prstGeom prst="rect">
            <a:avLst/>
          </a:prstGeom>
          <a:noFill/>
        </p:spPr>
        <p:txBody>
          <a:bodyPr wrap="square" rtlCol="0"/>
          <a:lstStyle>
            <a:lvl1pPr marL="0" indent="0" algn="l">
              <a:lnSpc>
                <a:spcPct val="100000"/>
              </a:lnSpc>
              <a:spcBef>
                <a:spcPts val="375"/>
              </a:spcBef>
              <a:buNone/>
              <a:defRPr lang="en-US" sz="3100" b="1" dirty="0">
                <a:solidFill>
                  <a:srgbClr val="4353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defRPr>
            </a:lvl1pPr>
          </a:lstStyle>
          <a:p>
            <a:pPr marL="0" indent="0" algn="l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3100" b="1" dirty="0">
                <a:solidFill>
                  <a:srgbClr val="4353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请输入主标题</a:t>
            </a:r>
            <a:endParaRPr lang="en-US" sz="31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目录页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章节页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0" y="3283268"/>
            <a:ext cx="2340864" cy="938689"/>
          </a:xfrm>
          <a:prstGeom prst="rect">
            <a:avLst/>
          </a:prstGeom>
          <a:noFill/>
        </p:spPr>
        <p:txBody>
          <a:bodyPr wrap="square" rtlCol="0"/>
          <a:lstStyle>
            <a:lvl1pPr marL="0" indent="0" algn="ctr">
              <a:lnSpc>
                <a:spcPct val="100000"/>
              </a:lnSpc>
              <a:spcBef>
                <a:spcPts val="375"/>
              </a:spcBef>
              <a:buNone/>
              <a:defRPr lang="en-US" sz="57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defRPr>
            </a:lvl1pPr>
          </a:lstStyle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57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5700" dirty="0"/>
          </a:p>
        </p:txBody>
      </p:sp>
      <p:sp>
        <p:nvSpPr>
          <p:cNvPr id="3" name="Text 0"/>
          <p:cNvSpPr>
            <a:spLocks noGrp="1"/>
          </p:cNvSpPr>
          <p:nvPr>
            <p:ph idx="101" hasCustomPrompt="1"/>
          </p:nvPr>
        </p:nvSpPr>
        <p:spPr>
          <a:xfrm>
            <a:off x="636937" y="828461"/>
            <a:ext cx="5577840" cy="865537"/>
          </a:xfrm>
          <a:prstGeom prst="rect">
            <a:avLst/>
          </a:prstGeom>
          <a:noFill/>
        </p:spPr>
        <p:txBody>
          <a:bodyPr wrap="square" rtlCol="0"/>
          <a:lstStyle>
            <a:lvl1pPr marL="0" indent="0" algn="ctr">
              <a:lnSpc>
                <a:spcPct val="100000"/>
              </a:lnSpc>
              <a:spcBef>
                <a:spcPts val="375"/>
              </a:spcBef>
              <a:buNone/>
              <a:defRPr lang="en-US" sz="5100" dirty="0">
                <a:solidFill>
                  <a:srgbClr val="4353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defRPr>
            </a:lvl1pPr>
          </a:lstStyle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5100" dirty="0">
                <a:solidFill>
                  <a:srgbClr val="4353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请输入标题</a:t>
            </a:r>
            <a:endParaRPr lang="en-US" sz="51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章节页[完整]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0" y="3283268"/>
            <a:ext cx="2340864" cy="938689"/>
          </a:xfrm>
          <a:prstGeom prst="rect">
            <a:avLst/>
          </a:prstGeom>
          <a:noFill/>
        </p:spPr>
        <p:txBody>
          <a:bodyPr wrap="square" rtlCol="0"/>
          <a:lstStyle>
            <a:lvl1pPr marL="0" indent="0" algn="ctr">
              <a:lnSpc>
                <a:spcPct val="100000"/>
              </a:lnSpc>
              <a:spcBef>
                <a:spcPts val="375"/>
              </a:spcBef>
              <a:buNone/>
              <a:defRPr lang="en-US" sz="57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defRPr>
            </a:lvl1pPr>
          </a:lstStyle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57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5700" dirty="0"/>
          </a:p>
        </p:txBody>
      </p:sp>
      <p:sp>
        <p:nvSpPr>
          <p:cNvPr id="3" name="Text 0"/>
          <p:cNvSpPr>
            <a:spLocks noGrp="1"/>
          </p:cNvSpPr>
          <p:nvPr>
            <p:ph idx="101" hasCustomPrompt="1"/>
          </p:nvPr>
        </p:nvSpPr>
        <p:spPr>
          <a:xfrm>
            <a:off x="636937" y="828461"/>
            <a:ext cx="5577840" cy="865537"/>
          </a:xfrm>
          <a:prstGeom prst="rect">
            <a:avLst/>
          </a:prstGeom>
          <a:noFill/>
        </p:spPr>
        <p:txBody>
          <a:bodyPr wrap="square" rtlCol="0"/>
          <a:lstStyle>
            <a:lvl1pPr marL="0" indent="0" algn="ctr">
              <a:lnSpc>
                <a:spcPct val="100000"/>
              </a:lnSpc>
              <a:spcBef>
                <a:spcPts val="375"/>
              </a:spcBef>
              <a:buNone/>
              <a:defRPr lang="en-US" sz="5100" dirty="0">
                <a:solidFill>
                  <a:srgbClr val="4353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defRPr>
            </a:lvl1pPr>
          </a:lstStyle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5100" dirty="0">
                <a:solidFill>
                  <a:srgbClr val="4353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请输入标题</a:t>
            </a:r>
            <a:endParaRPr lang="en-US" sz="510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页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61336" y="194767"/>
            <a:ext cx="8736511" cy="591217"/>
          </a:xfrm>
          <a:prstGeom prst="rect">
            <a:avLst/>
          </a:prstGeom>
          <a:noFill/>
        </p:spPr>
        <p:txBody>
          <a:bodyPr wrap="square" rtlCol="0"/>
          <a:lstStyle>
            <a:lvl1pPr marL="0" indent="0" algn="l">
              <a:lnSpc>
                <a:spcPct val="120000"/>
              </a:lnSpc>
              <a:spcBef>
                <a:spcPts val="375"/>
              </a:spcBef>
              <a:buNone/>
              <a:defRPr lang="en-US" sz="1900" dirty="0">
                <a:solidFill>
                  <a:srgbClr val="000000"/>
                </a:solidFill>
                <a:latin typeface="阿里巴巴普惠体 Medium" pitchFamily="34" charset="0"/>
                <a:ea typeface="阿里巴巴普惠体 Medium" pitchFamily="34" charset="-122"/>
                <a:cs typeface="阿里巴巴普惠体 Medium" pitchFamily="34" charset="-120"/>
              </a:defRPr>
            </a:lvl1pPr>
          </a:lstStyle>
          <a:p>
            <a:pPr marL="0" indent="0" algn="l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900" dirty="0">
                <a:solidFill>
                  <a:srgbClr val="000000"/>
                </a:solidFill>
                <a:latin typeface="阿里巴巴普惠体 Medium" pitchFamily="34" charset="0"/>
                <a:ea typeface="阿里巴巴普惠体 Medium" pitchFamily="34" charset="-122"/>
                <a:cs typeface="阿里巴巴普惠体 Medium" pitchFamily="34" charset="-120"/>
              </a:rPr>
              <a:t>请输入标题</a:t>
            </a:r>
            <a:endParaRPr lang="en-US" sz="1900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结束页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结束页[完整]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84996" y="2156484"/>
            <a:ext cx="4224528" cy="889968"/>
          </a:xfrm>
          <a:prstGeom prst="rect">
            <a:avLst/>
          </a:prstGeom>
          <a:noFill/>
        </p:spPr>
        <p:txBody>
          <a:bodyPr wrap="square" lIns="95250" tIns="95250" rIns="95250" bIns="95250" rtlCol="0" anchor="t"/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5100" dirty="0">
                <a:solidFill>
                  <a:srgbClr val="43536A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 谢谢观看</a:t>
            </a:r>
            <a:endParaRPr lang="en-US" sz="1500" dirty="0"/>
          </a:p>
        </p:txBody>
      </p:sp>
      <p:pic>
        <p:nvPicPr>
          <p:cNvPr id="3" name="Image 0" descr="https://ike-mindshow-user.oss-cn-shanghai.aliyuncs.com/107/release/user_file/2025_08_12/43bce7cb5f00a108f10735604e4ac0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2077" y="457961"/>
            <a:ext cx="2899845" cy="2899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image" Target="../media/image8.png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notesSlide" Target="../notesSlides/notesSlide2.xml"/><Relationship Id="rId2" Type="http://schemas.openxmlformats.org/officeDocument/2006/relationships/tags" Target="../tags/tag2.xml"/><Relationship Id="rId16" Type="http://schemas.openxmlformats.org/officeDocument/2006/relationships/slideLayout" Target="../slideLayouts/slideLayout3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19" Type="http://schemas.openxmlformats.org/officeDocument/2006/relationships/image" Target="../media/image7.png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7" Type="http://schemas.openxmlformats.org/officeDocument/2006/relationships/image" Target="../media/image11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6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png"/><Relationship Id="rId5" Type="http://schemas.openxmlformats.org/officeDocument/2006/relationships/image" Target="../media/image7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GI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057A5CAB-B802-CFDE-54ED-E0BE5C1180F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14" name="Image 1" descr="https://ike-mindshow-user.oss-cn-shanghai.aliyuncs.com/107/release/user_file/2025_05_06/0f7862d76fb9e031991b330399180e7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3265" y="152376"/>
            <a:ext cx="1880735" cy="418124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702427" y="1088390"/>
            <a:ext cx="7541895" cy="274876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4000" b="1" dirty="0">
                <a:solidFill>
                  <a:srgbClr val="43536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  <a:sym typeface="+mn-ea"/>
              </a:rPr>
              <a:t>智调民和</a:t>
            </a:r>
          </a:p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43536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民族地区基层纠纷智能调解与法律适配系统</a:t>
            </a:r>
          </a:p>
          <a:p>
            <a:pPr algn="ctr">
              <a:lnSpc>
                <a:spcPct val="200000"/>
              </a:lnSpc>
            </a:pPr>
            <a:endParaRPr lang="en-US" dirty="0">
              <a:solidFill>
                <a:srgbClr val="64748B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  <a:sym typeface="+mn-ea"/>
            </a:endParaRPr>
          </a:p>
          <a:p>
            <a:pPr algn="ctr">
              <a:lnSpc>
                <a:spcPct val="130000"/>
              </a:lnSpc>
            </a:pPr>
            <a:endParaRPr lang="en-US" dirty="0">
              <a:solidFill>
                <a:srgbClr val="64748B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  <a:sym typeface="+mn-ea"/>
            </a:endParaRPr>
          </a:p>
          <a:p>
            <a:pPr algn="ctr">
              <a:lnSpc>
                <a:spcPct val="130000"/>
              </a:lnSpc>
            </a:pPr>
            <a:endParaRPr lang="en-US" dirty="0">
              <a:solidFill>
                <a:srgbClr val="64748B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  <a:sym typeface="+mn-ea"/>
            </a:endParaRPr>
          </a:p>
          <a:p>
            <a:pPr algn="ctr">
              <a:lnSpc>
                <a:spcPct val="130000"/>
              </a:lnSpc>
            </a:pPr>
            <a:r>
              <a:rPr lang="en-US" sz="1200" dirty="0"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  <a:sym typeface="+mn-ea"/>
              </a:rPr>
              <a:t>中央民族大学 "青苗计划" 结项答辩</a:t>
            </a:r>
            <a:endParaRPr lang="en-US" sz="1200" dirty="0"/>
          </a:p>
          <a:p>
            <a:pPr algn="ctr">
              <a:lnSpc>
                <a:spcPct val="130000"/>
              </a:lnSpc>
            </a:pPr>
            <a:endParaRPr lang="en-US" altLang="en-US" sz="1400" b="1" dirty="0">
              <a:solidFill>
                <a:srgbClr val="43536A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16" name="Shape 3"/>
          <p:cNvSpPr/>
          <p:nvPr/>
        </p:nvSpPr>
        <p:spPr>
          <a:xfrm flipV="1">
            <a:off x="2619375" y="2078355"/>
            <a:ext cx="3708000" cy="76200"/>
          </a:xfrm>
          <a:prstGeom prst="rect">
            <a:avLst/>
          </a:prstGeom>
          <a:solidFill>
            <a:srgbClr val="43536A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C04803B-F593-919A-59BC-44D9A253B16F}"/>
              </a:ext>
            </a:extLst>
          </p:cNvPr>
          <p:cNvSpPr txBox="1"/>
          <p:nvPr/>
        </p:nvSpPr>
        <p:spPr>
          <a:xfrm>
            <a:off x="825500" y="2248584"/>
            <a:ext cx="80349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43536A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宋体" panose="02010600030101010101" pitchFamily="2" charset="-122"/>
                <a:sym typeface="+mn-ea"/>
              </a:rPr>
              <a:t>基于 AI 大数据技术处理的民族地区基层纠纷人民调解与法律适配性研究</a:t>
            </a: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>
            <a:extLst>
              <a:ext uri="{FF2B5EF4-FFF2-40B4-BE49-F238E27FC236}">
                <a16:creationId xmlns:a16="http://schemas.microsoft.com/office/drawing/2014/main" id="{609CFD58-A725-5466-4F7B-449FABBA4918}"/>
              </a:ext>
            </a:extLst>
          </p:cNvPr>
          <p:cNvPicPr>
            <a:picLocks noChangeAspect="1"/>
          </p:cNvPicPr>
          <p:nvPr/>
        </p:nvPicPr>
        <p:blipFill>
          <a:blip r:embed="rId18">
            <a:alphaModFix amt="20000"/>
          </a:blip>
          <a:stretch>
            <a:fillRect/>
          </a:stretch>
        </p:blipFill>
        <p:spPr>
          <a:xfrm>
            <a:off x="0" y="161976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-9073" y="0"/>
            <a:ext cx="5167146" cy="516714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spcBef>
                <a:spcPts val="375"/>
              </a:spcBef>
              <a:buNone/>
            </a:pPr>
            <a:r>
              <a:rPr lang="en-US" sz="13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endParaRPr lang="en-US" sz="1500" dirty="0"/>
          </a:p>
        </p:txBody>
      </p:sp>
      <p:pic>
        <p:nvPicPr>
          <p:cNvPr id="4" name="Image 1" descr="https://ike-mindshow-user.oss-cn-shanghai.aliyuncs.com/107/release/user_file/2025_05_06/0f7862d76fb9e031991b330399180e77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263265" y="152376"/>
            <a:ext cx="1880735" cy="418124"/>
          </a:xfrm>
          <a:prstGeom prst="rect">
            <a:avLst/>
          </a:prstGeom>
        </p:spPr>
      </p:pic>
      <p:sp>
        <p:nvSpPr>
          <p:cNvPr id="5" name="Shape 1"/>
          <p:cNvSpPr/>
          <p:nvPr>
            <p:custDataLst>
              <p:tags r:id="rId1"/>
            </p:custDataLst>
          </p:nvPr>
        </p:nvSpPr>
        <p:spPr>
          <a:xfrm>
            <a:off x="1997966" y="2360903"/>
            <a:ext cx="6901925" cy="562631"/>
          </a:xfrm>
          <a:custGeom>
            <a:avLst/>
            <a:gdLst/>
            <a:ahLst/>
            <a:cxnLst/>
            <a:rect l="l" t="t" r="r" b="b"/>
            <a:pathLst>
              <a:path w="4485892" h="365681">
                <a:moveTo>
                  <a:pt x="0" y="0"/>
                </a:moveTo>
                <a:lnTo>
                  <a:pt x="4485892" y="0"/>
                </a:lnTo>
                <a:lnTo>
                  <a:pt x="4485892" y="365681"/>
                </a:lnTo>
                <a:lnTo>
                  <a:pt x="0" y="365681"/>
                </a:lnTo>
                <a:close/>
              </a:path>
            </a:pathLst>
          </a:custGeom>
          <a:solidFill>
            <a:srgbClr val="E6EAEF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6" name="Shape 2"/>
          <p:cNvSpPr/>
          <p:nvPr>
            <p:custDataLst>
              <p:tags r:id="rId2"/>
            </p:custDataLst>
          </p:nvPr>
        </p:nvSpPr>
        <p:spPr>
          <a:xfrm>
            <a:off x="1234052" y="2360903"/>
            <a:ext cx="1091112" cy="562631"/>
          </a:xfrm>
          <a:custGeom>
            <a:avLst/>
            <a:gdLst/>
            <a:ahLst/>
            <a:cxnLst/>
            <a:rect l="l" t="t" r="r" b="b"/>
            <a:pathLst>
              <a:path w="709166" h="365681">
                <a:moveTo>
                  <a:pt x="0" y="0"/>
                </a:moveTo>
                <a:lnTo>
                  <a:pt x="496416" y="0"/>
                </a:lnTo>
                <a:lnTo>
                  <a:pt x="709166" y="182841"/>
                </a:lnTo>
                <a:lnTo>
                  <a:pt x="496416" y="365681"/>
                </a:lnTo>
                <a:lnTo>
                  <a:pt x="0" y="365681"/>
                </a:lnTo>
                <a:lnTo>
                  <a:pt x="0" y="182841"/>
                </a:lnTo>
                <a:lnTo>
                  <a:pt x="0" y="0"/>
                </a:lnTo>
                <a:close/>
              </a:path>
            </a:pathLst>
          </a:custGeom>
          <a:solidFill>
            <a:srgbClr val="43536A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7" name="Shape 3"/>
          <p:cNvSpPr/>
          <p:nvPr>
            <p:custDataLst>
              <p:tags r:id="rId3"/>
            </p:custDataLst>
          </p:nvPr>
        </p:nvSpPr>
        <p:spPr>
          <a:xfrm>
            <a:off x="392283" y="2360903"/>
            <a:ext cx="855838" cy="562631"/>
          </a:xfrm>
          <a:custGeom>
            <a:avLst/>
            <a:gdLst/>
            <a:ahLst/>
            <a:cxnLst/>
            <a:rect l="l" t="t" r="r" b="b"/>
            <a:pathLst>
              <a:path w="556250" h="365681">
                <a:moveTo>
                  <a:pt x="0" y="0"/>
                </a:moveTo>
                <a:lnTo>
                  <a:pt x="556250" y="0"/>
                </a:lnTo>
                <a:lnTo>
                  <a:pt x="556250" y="365681"/>
                </a:lnTo>
                <a:lnTo>
                  <a:pt x="0" y="365681"/>
                </a:lnTo>
                <a:close/>
              </a:path>
            </a:pathLst>
          </a:custGeom>
          <a:solidFill>
            <a:srgbClr val="43536A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8" name="Shape 4"/>
          <p:cNvSpPr/>
          <p:nvPr>
            <p:custDataLst>
              <p:tags r:id="rId4"/>
            </p:custDataLst>
          </p:nvPr>
        </p:nvSpPr>
        <p:spPr>
          <a:xfrm>
            <a:off x="1997966" y="1439297"/>
            <a:ext cx="6901925" cy="562631"/>
          </a:xfrm>
          <a:custGeom>
            <a:avLst/>
            <a:gdLst/>
            <a:ahLst/>
            <a:cxnLst/>
            <a:rect l="l" t="t" r="r" b="b"/>
            <a:pathLst>
              <a:path w="4485892" h="365681">
                <a:moveTo>
                  <a:pt x="0" y="0"/>
                </a:moveTo>
                <a:lnTo>
                  <a:pt x="4485892" y="0"/>
                </a:lnTo>
                <a:lnTo>
                  <a:pt x="4485892" y="365681"/>
                </a:lnTo>
                <a:lnTo>
                  <a:pt x="0" y="365681"/>
                </a:lnTo>
                <a:close/>
              </a:path>
            </a:pathLst>
          </a:custGeom>
          <a:solidFill>
            <a:srgbClr val="E6EAEF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9" name="Shape 5"/>
          <p:cNvSpPr/>
          <p:nvPr>
            <p:custDataLst>
              <p:tags r:id="rId5"/>
            </p:custDataLst>
          </p:nvPr>
        </p:nvSpPr>
        <p:spPr>
          <a:xfrm>
            <a:off x="1234052" y="1439297"/>
            <a:ext cx="1091112" cy="562631"/>
          </a:xfrm>
          <a:custGeom>
            <a:avLst/>
            <a:gdLst/>
            <a:ahLst/>
            <a:cxnLst/>
            <a:rect l="l" t="t" r="r" b="b"/>
            <a:pathLst>
              <a:path w="709166" h="365681">
                <a:moveTo>
                  <a:pt x="0" y="0"/>
                </a:moveTo>
                <a:lnTo>
                  <a:pt x="496416" y="0"/>
                </a:lnTo>
                <a:lnTo>
                  <a:pt x="709166" y="182841"/>
                </a:lnTo>
                <a:lnTo>
                  <a:pt x="496416" y="365681"/>
                </a:lnTo>
                <a:lnTo>
                  <a:pt x="0" y="365681"/>
                </a:lnTo>
                <a:lnTo>
                  <a:pt x="0" y="182841"/>
                </a:lnTo>
                <a:lnTo>
                  <a:pt x="0" y="0"/>
                </a:lnTo>
                <a:close/>
              </a:path>
            </a:pathLst>
          </a:custGeom>
          <a:solidFill>
            <a:srgbClr val="43536A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6"/>
          <p:cNvSpPr/>
          <p:nvPr>
            <p:custDataLst>
              <p:tags r:id="rId6"/>
            </p:custDataLst>
          </p:nvPr>
        </p:nvSpPr>
        <p:spPr>
          <a:xfrm>
            <a:off x="392283" y="1439297"/>
            <a:ext cx="855838" cy="562631"/>
          </a:xfrm>
          <a:custGeom>
            <a:avLst/>
            <a:gdLst/>
            <a:ahLst/>
            <a:cxnLst/>
            <a:rect l="l" t="t" r="r" b="b"/>
            <a:pathLst>
              <a:path w="556250" h="365681">
                <a:moveTo>
                  <a:pt x="0" y="0"/>
                </a:moveTo>
                <a:lnTo>
                  <a:pt x="556250" y="0"/>
                </a:lnTo>
                <a:lnTo>
                  <a:pt x="556250" y="365681"/>
                </a:lnTo>
                <a:lnTo>
                  <a:pt x="0" y="365681"/>
                </a:lnTo>
                <a:close/>
              </a:path>
            </a:pathLst>
          </a:custGeom>
          <a:solidFill>
            <a:srgbClr val="43536A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7"/>
          <p:cNvSpPr/>
          <p:nvPr>
            <p:custDataLst>
              <p:tags r:id="rId7"/>
            </p:custDataLst>
          </p:nvPr>
        </p:nvSpPr>
        <p:spPr>
          <a:xfrm>
            <a:off x="1997966" y="3282509"/>
            <a:ext cx="6901925" cy="562631"/>
          </a:xfrm>
          <a:custGeom>
            <a:avLst/>
            <a:gdLst/>
            <a:ahLst/>
            <a:cxnLst/>
            <a:rect l="l" t="t" r="r" b="b"/>
            <a:pathLst>
              <a:path w="4485892" h="365681">
                <a:moveTo>
                  <a:pt x="0" y="0"/>
                </a:moveTo>
                <a:lnTo>
                  <a:pt x="4485892" y="0"/>
                </a:lnTo>
                <a:lnTo>
                  <a:pt x="4485892" y="365681"/>
                </a:lnTo>
                <a:lnTo>
                  <a:pt x="0" y="365681"/>
                </a:lnTo>
                <a:close/>
              </a:path>
            </a:pathLst>
          </a:custGeom>
          <a:solidFill>
            <a:srgbClr val="E6EAEF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8"/>
          <p:cNvSpPr/>
          <p:nvPr>
            <p:custDataLst>
              <p:tags r:id="rId8"/>
            </p:custDataLst>
          </p:nvPr>
        </p:nvSpPr>
        <p:spPr>
          <a:xfrm>
            <a:off x="1234052" y="3282509"/>
            <a:ext cx="1091112" cy="562631"/>
          </a:xfrm>
          <a:custGeom>
            <a:avLst/>
            <a:gdLst/>
            <a:ahLst/>
            <a:cxnLst/>
            <a:rect l="l" t="t" r="r" b="b"/>
            <a:pathLst>
              <a:path w="709166" h="365681">
                <a:moveTo>
                  <a:pt x="0" y="0"/>
                </a:moveTo>
                <a:lnTo>
                  <a:pt x="496416" y="0"/>
                </a:lnTo>
                <a:lnTo>
                  <a:pt x="709166" y="182841"/>
                </a:lnTo>
                <a:lnTo>
                  <a:pt x="496416" y="365681"/>
                </a:lnTo>
                <a:lnTo>
                  <a:pt x="0" y="365681"/>
                </a:lnTo>
                <a:lnTo>
                  <a:pt x="0" y="182841"/>
                </a:lnTo>
                <a:lnTo>
                  <a:pt x="0" y="0"/>
                </a:lnTo>
                <a:close/>
              </a:path>
            </a:pathLst>
          </a:custGeom>
          <a:solidFill>
            <a:srgbClr val="43536A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9"/>
          <p:cNvSpPr/>
          <p:nvPr>
            <p:custDataLst>
              <p:tags r:id="rId9"/>
            </p:custDataLst>
          </p:nvPr>
        </p:nvSpPr>
        <p:spPr>
          <a:xfrm>
            <a:off x="392283" y="3282509"/>
            <a:ext cx="855838" cy="562631"/>
          </a:xfrm>
          <a:custGeom>
            <a:avLst/>
            <a:gdLst/>
            <a:ahLst/>
            <a:cxnLst/>
            <a:rect l="l" t="t" r="r" b="b"/>
            <a:pathLst>
              <a:path w="556250" h="365681">
                <a:moveTo>
                  <a:pt x="0" y="0"/>
                </a:moveTo>
                <a:lnTo>
                  <a:pt x="556250" y="0"/>
                </a:lnTo>
                <a:lnTo>
                  <a:pt x="556250" y="365681"/>
                </a:lnTo>
                <a:lnTo>
                  <a:pt x="0" y="365681"/>
                </a:lnTo>
                <a:close/>
              </a:path>
            </a:pathLst>
          </a:custGeom>
          <a:solidFill>
            <a:srgbClr val="43536A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0"/>
          <p:cNvSpPr/>
          <p:nvPr/>
        </p:nvSpPr>
        <p:spPr>
          <a:xfrm>
            <a:off x="3978421" y="425120"/>
            <a:ext cx="1187158" cy="700945"/>
          </a:xfrm>
          <a:prstGeom prst="rect">
            <a:avLst/>
          </a:prstGeom>
          <a:noFill/>
        </p:spPr>
        <p:txBody>
          <a:bodyPr wrap="square" lIns="95250" tIns="95250" rIns="95250" bIns="95250" rtlCol="0" anchor="t"/>
          <a:lstStyle/>
          <a:p>
            <a:pPr marL="0" indent="0" algn="ctr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3200" b="1" dirty="0">
                <a:solidFill>
                  <a:srgbClr val="43536A"/>
                </a:solidFill>
                <a:latin typeface="黑体" panose="02010609060101010101" pitchFamily="34" charset="-122"/>
                <a:ea typeface="黑体" panose="02010609060101010101" pitchFamily="34" charset="-122"/>
                <a:cs typeface="阿里巴巴普惠体 Medium" pitchFamily="34" charset="-120"/>
              </a:rPr>
              <a:t>目录</a:t>
            </a:r>
          </a:p>
        </p:txBody>
      </p:sp>
      <p:sp>
        <p:nvSpPr>
          <p:cNvPr id="15" name="Text 11"/>
          <p:cNvSpPr/>
          <p:nvPr>
            <p:custDataLst>
              <p:tags r:id="rId10"/>
            </p:custDataLst>
          </p:nvPr>
        </p:nvSpPr>
        <p:spPr>
          <a:xfrm>
            <a:off x="244109" y="1427805"/>
            <a:ext cx="2077466" cy="764332"/>
          </a:xfrm>
          <a:prstGeom prst="rect">
            <a:avLst/>
          </a:prstGeom>
          <a:noFill/>
        </p:spPr>
        <p:txBody>
          <a:bodyPr wrap="square" lIns="95250" tIns="95250" rIns="95250" bIns="95250" rtlCol="0" anchor="t"/>
          <a:lstStyle/>
          <a:p>
            <a:pPr marL="0" indent="0" algn="ctr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200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阿里巴巴普惠体 Medium" pitchFamily="34" charset="-120"/>
              </a:rPr>
              <a:t>第一部分</a:t>
            </a:r>
            <a:endParaRPr lang="en-US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6" name="Text 12"/>
          <p:cNvSpPr/>
          <p:nvPr>
            <p:custDataLst>
              <p:tags r:id="rId11"/>
            </p:custDataLst>
          </p:nvPr>
        </p:nvSpPr>
        <p:spPr>
          <a:xfrm>
            <a:off x="2425885" y="1412175"/>
            <a:ext cx="6614694" cy="745647"/>
          </a:xfrm>
          <a:prstGeom prst="rect">
            <a:avLst/>
          </a:prstGeom>
          <a:noFill/>
        </p:spPr>
        <p:txBody>
          <a:bodyPr wrap="square" lIns="95250" tIns="95250" rIns="95250" bIns="95250" rtlCol="0" anchor="t"/>
          <a:lstStyle/>
          <a:p>
            <a:pPr marL="0" algn="l">
              <a:lnSpc>
                <a:spcPct val="120000"/>
              </a:lnSpc>
              <a:spcBef>
                <a:spcPts val="375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rgbClr val="61616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研究目标和方法</a:t>
            </a:r>
          </a:p>
        </p:txBody>
      </p:sp>
      <p:sp>
        <p:nvSpPr>
          <p:cNvPr id="17" name="Text 13"/>
          <p:cNvSpPr/>
          <p:nvPr>
            <p:custDataLst>
              <p:tags r:id="rId12"/>
            </p:custDataLst>
          </p:nvPr>
        </p:nvSpPr>
        <p:spPr>
          <a:xfrm>
            <a:off x="247698" y="2338690"/>
            <a:ext cx="2077466" cy="764332"/>
          </a:xfrm>
          <a:prstGeom prst="rect">
            <a:avLst/>
          </a:prstGeom>
          <a:noFill/>
        </p:spPr>
        <p:txBody>
          <a:bodyPr wrap="square" lIns="95250" tIns="95250" rIns="95250" bIns="95250" rtlCol="0" anchor="t"/>
          <a:lstStyle/>
          <a:p>
            <a:pPr marL="0" indent="0" algn="ctr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200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阿里巴巴普惠体 Medium" pitchFamily="34" charset="-120"/>
              </a:rPr>
              <a:t>第二部分</a:t>
            </a:r>
            <a:endParaRPr lang="en-US" sz="1500" dirty="0"/>
          </a:p>
        </p:txBody>
      </p:sp>
      <p:sp>
        <p:nvSpPr>
          <p:cNvPr id="18" name="Text 14"/>
          <p:cNvSpPr/>
          <p:nvPr>
            <p:custDataLst>
              <p:tags r:id="rId13"/>
            </p:custDataLst>
          </p:nvPr>
        </p:nvSpPr>
        <p:spPr>
          <a:xfrm>
            <a:off x="2425885" y="2360903"/>
            <a:ext cx="6614694" cy="745647"/>
          </a:xfrm>
          <a:prstGeom prst="rect">
            <a:avLst/>
          </a:prstGeom>
          <a:noFill/>
        </p:spPr>
        <p:txBody>
          <a:bodyPr wrap="square" lIns="95250" tIns="95250" rIns="95250" bIns="95250" rtlCol="0" anchor="t"/>
          <a:lstStyle/>
          <a:p>
            <a:pPr marL="0" algn="l">
              <a:lnSpc>
                <a:spcPct val="120000"/>
              </a:lnSpc>
              <a:spcBef>
                <a:spcPts val="375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rgbClr val="61616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研究主要进展和成果</a:t>
            </a:r>
          </a:p>
        </p:txBody>
      </p:sp>
      <p:sp>
        <p:nvSpPr>
          <p:cNvPr id="19" name="Text 15"/>
          <p:cNvSpPr/>
          <p:nvPr>
            <p:custDataLst>
              <p:tags r:id="rId14"/>
            </p:custDataLst>
          </p:nvPr>
        </p:nvSpPr>
        <p:spPr>
          <a:xfrm>
            <a:off x="244109" y="3271788"/>
            <a:ext cx="2077466" cy="764332"/>
          </a:xfrm>
          <a:prstGeom prst="rect">
            <a:avLst/>
          </a:prstGeom>
          <a:noFill/>
        </p:spPr>
        <p:txBody>
          <a:bodyPr wrap="square" lIns="95250" tIns="95250" rIns="95250" bIns="95250" rtlCol="0" anchor="t"/>
          <a:lstStyle/>
          <a:p>
            <a:pPr marL="0" indent="0" algn="ctr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200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阿里巴巴普惠体 Medium" pitchFamily="34" charset="-120"/>
              </a:rPr>
              <a:t>第三部分</a:t>
            </a:r>
            <a:endParaRPr lang="en-US" sz="1500" dirty="0"/>
          </a:p>
        </p:txBody>
      </p:sp>
      <p:sp>
        <p:nvSpPr>
          <p:cNvPr id="20" name="Text 16"/>
          <p:cNvSpPr/>
          <p:nvPr>
            <p:custDataLst>
              <p:tags r:id="rId15"/>
            </p:custDataLst>
          </p:nvPr>
        </p:nvSpPr>
        <p:spPr>
          <a:xfrm>
            <a:off x="2425885" y="3271788"/>
            <a:ext cx="6614694" cy="745647"/>
          </a:xfrm>
          <a:prstGeom prst="rect">
            <a:avLst/>
          </a:prstGeom>
          <a:noFill/>
        </p:spPr>
        <p:txBody>
          <a:bodyPr wrap="square" lIns="95250" tIns="95250" rIns="95250" bIns="95250" rtlCol="0" anchor="t"/>
          <a:lstStyle/>
          <a:p>
            <a:pPr marL="0" algn="l">
              <a:lnSpc>
                <a:spcPct val="120000"/>
              </a:lnSpc>
              <a:spcBef>
                <a:spcPts val="375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rgbClr val="61616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团队成员分工介绍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0" y="3283268"/>
            <a:ext cx="2340864" cy="938689"/>
          </a:xfrm>
          <a:prstGeom prst="rect">
            <a:avLst/>
          </a:prstGeom>
          <a:noFill/>
        </p:spPr>
        <p:txBody>
          <a:bodyPr wrap="square" lIns="95250" tIns="95250" rIns="95250" bIns="95250" rtlCol="0" anchor="t"/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57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1500" dirty="0"/>
          </a:p>
        </p:txBody>
      </p:sp>
      <p:sp>
        <p:nvSpPr>
          <p:cNvPr id="3" name="Text 1"/>
          <p:cNvSpPr>
            <a:spLocks noGrp="1"/>
          </p:cNvSpPr>
          <p:nvPr>
            <p:ph idx="101" hasCustomPrompt="1"/>
          </p:nvPr>
        </p:nvSpPr>
        <p:spPr>
          <a:xfrm>
            <a:off x="949960" y="598682"/>
            <a:ext cx="4953000" cy="768350"/>
          </a:xfrm>
          <a:prstGeom prst="rect">
            <a:avLst/>
          </a:prstGeom>
          <a:noFill/>
        </p:spPr>
        <p:txBody>
          <a:bodyPr wrap="square" lIns="95250" tIns="95250" rIns="95250" bIns="95250" rtlCol="0" anchor="t"/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zh-CN" altLang="en-US" sz="4000" b="1" dirty="0">
                <a:solidFill>
                  <a:srgbClr val="43536A"/>
                </a:solidFill>
                <a:sym typeface="+mn-ea"/>
              </a:rPr>
              <a:t>研究目标和方法</a:t>
            </a:r>
            <a:endParaRPr lang="zh-CN" altLang="en-US" sz="40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endParaRPr lang="zh-CN" altLang="en-US" sz="15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17">
            <a:extLst>
              <a:ext uri="{FF2B5EF4-FFF2-40B4-BE49-F238E27FC236}">
                <a16:creationId xmlns:a16="http://schemas.microsoft.com/office/drawing/2014/main" id="{CEEDC04C-55E5-D32E-1D96-81AE28D96862}"/>
              </a:ext>
            </a:extLst>
          </p:cNvPr>
          <p:cNvSpPr/>
          <p:nvPr/>
        </p:nvSpPr>
        <p:spPr>
          <a:xfrm>
            <a:off x="4653186" y="3168688"/>
            <a:ext cx="1304559" cy="293800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Shape 14">
            <a:extLst>
              <a:ext uri="{FF2B5EF4-FFF2-40B4-BE49-F238E27FC236}">
                <a16:creationId xmlns:a16="http://schemas.microsoft.com/office/drawing/2014/main" id="{EE66822B-D680-A88A-A055-D6EFF25131D6}"/>
              </a:ext>
            </a:extLst>
          </p:cNvPr>
          <p:cNvSpPr/>
          <p:nvPr/>
        </p:nvSpPr>
        <p:spPr>
          <a:xfrm>
            <a:off x="4653186" y="2321577"/>
            <a:ext cx="1304559" cy="293800"/>
          </a:xfrm>
          <a:prstGeom prst="rect">
            <a:avLst/>
          </a:prstGeom>
          <a:solidFill>
            <a:srgbClr val="A85A3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Shape 11">
            <a:extLst>
              <a:ext uri="{FF2B5EF4-FFF2-40B4-BE49-F238E27FC236}">
                <a16:creationId xmlns:a16="http://schemas.microsoft.com/office/drawing/2014/main" id="{B4D43B4F-AB54-10FD-A21F-333C6944ADA0}"/>
              </a:ext>
            </a:extLst>
          </p:cNvPr>
          <p:cNvSpPr/>
          <p:nvPr/>
        </p:nvSpPr>
        <p:spPr>
          <a:xfrm>
            <a:off x="4653186" y="1499808"/>
            <a:ext cx="1281994" cy="304024"/>
          </a:xfrm>
          <a:prstGeom prst="rect">
            <a:avLst/>
          </a:prstGeom>
          <a:solidFill>
            <a:srgbClr val="2C74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>
            <a:spLocks noGrp="1"/>
          </p:cNvSpPr>
          <p:nvPr>
            <p:ph type="title" idx="100" hasCustomPrompt="1"/>
          </p:nvPr>
        </p:nvSpPr>
        <p:spPr>
          <a:xfrm>
            <a:off x="407489" y="160531"/>
            <a:ext cx="8736511" cy="591217"/>
          </a:xfrm>
          <a:prstGeom prst="rect">
            <a:avLst/>
          </a:prstGeom>
          <a:noFill/>
        </p:spPr>
        <p:txBody>
          <a:bodyPr wrap="square" lIns="95250" tIns="95250" rIns="95250" bIns="95250" rtlCol="0" anchor="t"/>
          <a:lstStyle/>
          <a:p>
            <a:pPr marL="0" indent="0">
              <a:lnSpc>
                <a:spcPct val="120000"/>
              </a:lnSpc>
              <a:spcBef>
                <a:spcPts val="375"/>
              </a:spcBef>
              <a:buNone/>
            </a:pPr>
            <a:r>
              <a:rPr lang="zh-CN" altLang="en-US" sz="3200" b="1" dirty="0">
                <a:solidFill>
                  <a:srgbClr val="43536A"/>
                </a:solidFill>
                <a:latin typeface="黑体" panose="02010609060101010101" pitchFamily="34" charset="-122"/>
                <a:ea typeface="黑体" panose="02010609060101010101" pitchFamily="34" charset="-122"/>
                <a:sym typeface="+mn-ea"/>
              </a:rPr>
              <a:t>研究目标和方法</a:t>
            </a:r>
          </a:p>
        </p:txBody>
      </p:sp>
      <p:sp>
        <p:nvSpPr>
          <p:cNvPr id="15" name="文本框 14"/>
          <p:cNvSpPr txBox="1"/>
          <p:nvPr>
            <p:custDataLst>
              <p:tags r:id="rId1"/>
            </p:custDataLst>
          </p:nvPr>
        </p:nvSpPr>
        <p:spPr>
          <a:xfrm>
            <a:off x="1076960" y="857885"/>
            <a:ext cx="2958465" cy="10515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黑体" panose="02010609060101010101" pitchFamily="34" charset="-122"/>
                <a:ea typeface="黑体" panose="02010609060101010101" pitchFamily="34" charset="-122"/>
                <a:sym typeface="+mn-ea"/>
              </a:rPr>
              <a:t>研究目标</a:t>
            </a:r>
            <a:endParaRPr lang="en-US" b="1" dirty="0">
              <a:solidFill>
                <a:schemeClr val="bg1"/>
              </a:solidFill>
              <a:latin typeface="华文宋体" panose="02010600040101010101" charset="-122"/>
              <a:ea typeface="华文宋体" panose="02010600040101010101" charset="-122"/>
              <a:cs typeface="华文宋体" panose="02010600040101010101" charset="-122"/>
              <a:sym typeface="+mn-ea"/>
            </a:endParaRPr>
          </a:p>
          <a:p>
            <a:r>
              <a:rPr lang="en-US" sz="1600" b="1" dirty="0">
                <a:solidFill>
                  <a:schemeClr val="bg1"/>
                </a:solidFill>
                <a:latin typeface="华文宋体" panose="02010600040101010101" charset="-122"/>
                <a:ea typeface="华文宋体" panose="02010600040101010101" charset="-122"/>
                <a:cs typeface="华文宋体" panose="02010600040101010101" charset="-122"/>
                <a:sym typeface="+mn-ea"/>
              </a:rPr>
              <a:t>1.实现高效近距离调解</a:t>
            </a:r>
            <a:endParaRPr lang="zh-CN" altLang="en-US" sz="1600" b="1" dirty="0">
              <a:solidFill>
                <a:schemeClr val="bg1"/>
              </a:solidFill>
              <a:latin typeface="华文宋体" panose="02010600040101010101" charset="-122"/>
              <a:ea typeface="华文宋体" panose="02010600040101010101" charset="-122"/>
              <a:cs typeface="华文宋体" panose="02010600040101010101" charset="-122"/>
              <a:sym typeface="+mn-ea"/>
            </a:endParaRPr>
          </a:p>
          <a:p>
            <a:r>
              <a:rPr lang="zh-CN" altLang="en-US" sz="1600" b="1" dirty="0">
                <a:solidFill>
                  <a:schemeClr val="bg1"/>
                </a:solidFill>
                <a:latin typeface="华文宋体" panose="02010600040101010101" charset="-122"/>
                <a:ea typeface="华文宋体" panose="02010600040101010101" charset="-122"/>
                <a:cs typeface="华文宋体" panose="02010600040101010101" charset="-122"/>
                <a:sym typeface="+mn-ea"/>
              </a:rPr>
              <a:t> </a:t>
            </a:r>
            <a:r>
              <a:rPr lang="en-US" altLang="zh-CN" sz="1600" b="1" dirty="0">
                <a:solidFill>
                  <a:schemeClr val="bg1"/>
                </a:solidFill>
                <a:latin typeface="华文宋体" panose="02010600040101010101" charset="-122"/>
                <a:ea typeface="华文宋体" panose="02010600040101010101" charset="-122"/>
                <a:cs typeface="华文宋体" panose="02010600040101010101" charset="-122"/>
                <a:sym typeface="+mn-ea"/>
              </a:rPr>
              <a:t>       </a:t>
            </a:r>
            <a:r>
              <a:rPr lang="zh-CN" altLang="en-US" sz="1600" b="1" dirty="0">
                <a:solidFill>
                  <a:schemeClr val="bg1"/>
                </a:solidFill>
                <a:latin typeface="华文宋体" panose="02010600040101010101" charset="-122"/>
                <a:ea typeface="华文宋体" panose="02010600040101010101" charset="-122"/>
                <a:cs typeface="华文宋体" panose="02010600040101010101" charset="-122"/>
                <a:sym typeface="+mn-ea"/>
              </a:rPr>
              <a:t>利用</a:t>
            </a:r>
            <a:r>
              <a:rPr lang="en-US" altLang="zh-CN" sz="1600" b="1" dirty="0">
                <a:solidFill>
                  <a:schemeClr val="bg1"/>
                </a:solidFill>
                <a:latin typeface="华文宋体" panose="02010600040101010101" charset="-122"/>
                <a:ea typeface="华文宋体" panose="02010600040101010101" charset="-122"/>
                <a:cs typeface="华文宋体" panose="02010600040101010101" charset="-122"/>
                <a:sym typeface="+mn-ea"/>
              </a:rPr>
              <a:t>AI</a:t>
            </a:r>
            <a:r>
              <a:rPr lang="zh-CN" altLang="en-US" sz="1600" b="1" dirty="0">
                <a:solidFill>
                  <a:schemeClr val="bg1"/>
                </a:solidFill>
                <a:latin typeface="华文宋体" panose="02010600040101010101" charset="-122"/>
                <a:ea typeface="华文宋体" panose="02010600040101010101" charset="-122"/>
                <a:cs typeface="华文宋体" panose="02010600040101010101" charset="-122"/>
                <a:sym typeface="+mn-ea"/>
              </a:rPr>
              <a:t>大数据库优势，配合基层工作人员，实现高效率、近距离、深层次的调解服务，让群众更便捷地解决矛盾。</a:t>
            </a:r>
          </a:p>
          <a:p>
            <a:endParaRPr lang="en-US" altLang="zh-CN" sz="1600" b="1" dirty="0">
              <a:solidFill>
                <a:schemeClr val="bg1"/>
              </a:solidFill>
              <a:latin typeface="华文宋体" panose="02010600040101010101" charset="-122"/>
              <a:ea typeface="华文宋体" panose="02010600040101010101" charset="-122"/>
              <a:cs typeface="华文宋体" panose="02010600040101010101" charset="-122"/>
              <a:sym typeface="+mn-ea"/>
            </a:endParaRPr>
          </a:p>
          <a:p>
            <a:r>
              <a:rPr lang="en-US" altLang="zh-CN" sz="1600" b="1" dirty="0">
                <a:solidFill>
                  <a:schemeClr val="bg1"/>
                </a:solidFill>
                <a:latin typeface="华文宋体" panose="02010600040101010101" charset="-122"/>
                <a:ea typeface="华文宋体" panose="02010600040101010101" charset="-122"/>
                <a:cs typeface="华文宋体" panose="02010600040101010101" charset="-122"/>
                <a:sym typeface="+mn-ea"/>
              </a:rPr>
              <a:t>2.</a:t>
            </a:r>
            <a:r>
              <a:rPr lang="zh-CN" altLang="en-US" sz="1600" b="1" dirty="0">
                <a:solidFill>
                  <a:schemeClr val="bg1"/>
                </a:solidFill>
                <a:latin typeface="华文宋体" panose="02010600040101010101" charset="-122"/>
                <a:ea typeface="华文宋体" panose="02010600040101010101" charset="-122"/>
                <a:cs typeface="华文宋体" panose="02010600040101010101" charset="-122"/>
                <a:sym typeface="+mn-ea"/>
              </a:rPr>
              <a:t>健全多元化解机制</a:t>
            </a:r>
          </a:p>
          <a:p>
            <a:r>
              <a:rPr lang="en-US" altLang="zh-CN" sz="1600" b="1" dirty="0">
                <a:solidFill>
                  <a:schemeClr val="bg1"/>
                </a:solidFill>
                <a:latin typeface="华文宋体" panose="02010600040101010101" charset="-122"/>
                <a:ea typeface="华文宋体" panose="02010600040101010101" charset="-122"/>
                <a:cs typeface="华文宋体" panose="02010600040101010101" charset="-122"/>
                <a:sym typeface="+mn-ea"/>
              </a:rPr>
              <a:t>        </a:t>
            </a:r>
            <a:r>
              <a:rPr lang="zh-CN" altLang="en-US" sz="1600" b="1" dirty="0">
                <a:solidFill>
                  <a:schemeClr val="bg1"/>
                </a:solidFill>
                <a:latin typeface="华文宋体" panose="02010600040101010101" charset="-122"/>
                <a:ea typeface="华文宋体" panose="02010600040101010101" charset="-122"/>
                <a:cs typeface="华文宋体" panose="02010600040101010101" charset="-122"/>
                <a:sym typeface="+mn-ea"/>
              </a:rPr>
              <a:t>通过</a:t>
            </a:r>
            <a:r>
              <a:rPr lang="en-US" altLang="zh-CN" sz="1600" b="1" dirty="0">
                <a:solidFill>
                  <a:schemeClr val="bg1"/>
                </a:solidFill>
                <a:latin typeface="华文宋体" panose="02010600040101010101" charset="-122"/>
                <a:ea typeface="华文宋体" panose="02010600040101010101" charset="-122"/>
                <a:cs typeface="华文宋体" panose="02010600040101010101" charset="-122"/>
                <a:sym typeface="+mn-ea"/>
              </a:rPr>
              <a:t>AI</a:t>
            </a:r>
            <a:r>
              <a:rPr lang="zh-CN" altLang="en-US" sz="1600" b="1" dirty="0">
                <a:solidFill>
                  <a:schemeClr val="bg1"/>
                </a:solidFill>
                <a:latin typeface="华文宋体" panose="02010600040101010101" charset="-122"/>
                <a:ea typeface="华文宋体" panose="02010600040101010101" charset="-122"/>
                <a:cs typeface="华文宋体" panose="02010600040101010101" charset="-122"/>
                <a:sym typeface="+mn-ea"/>
              </a:rPr>
              <a:t>技术融合国家法与习惯法，促进民间解纷方式与司法程序有效衔接，形成传统与现代共治的多元化解格局。</a:t>
            </a:r>
          </a:p>
          <a:p>
            <a:endParaRPr lang="en-US" b="1" dirty="0">
              <a:solidFill>
                <a:schemeClr val="bg1"/>
              </a:solidFill>
              <a:latin typeface="华文宋体" panose="02010600040101010101" charset="-122"/>
              <a:ea typeface="华文宋体" panose="02010600040101010101" charset="-122"/>
              <a:cs typeface="华文宋体" panose="02010600040101010101" charset="-122"/>
              <a:sym typeface="+mn-ea"/>
            </a:endParaRPr>
          </a:p>
          <a:p>
            <a:endParaRPr lang="en-US" altLang="en-US" b="1" dirty="0">
              <a:solidFill>
                <a:schemeClr val="bg1"/>
              </a:solidFill>
              <a:latin typeface="华文宋体" panose="02010600040101010101" charset="-122"/>
              <a:ea typeface="华文宋体" panose="02010600040101010101" charset="-122"/>
              <a:cs typeface="华文宋体" panose="02010600040101010101" charset="-122"/>
              <a:sym typeface="+mn-ea"/>
            </a:endParaRPr>
          </a:p>
          <a:p>
            <a:endParaRPr lang="zh-CN" altLang="en-US" dirty="0"/>
          </a:p>
        </p:txBody>
      </p:sp>
      <p:pic>
        <p:nvPicPr>
          <p:cNvPr id="21" name="Image 1" descr="https://ike-mindshow-user.oss-cn-shanghai.aliyuncs.com/107/release/user_file/2025_05_06/0f7862d76fb9e031991b330399180e7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3265" y="152376"/>
            <a:ext cx="1880735" cy="418124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461010" y="910826"/>
            <a:ext cx="3881755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43536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研究目标</a:t>
            </a:r>
            <a:r>
              <a:rPr lang="en-US" altLang="zh-CN" sz="2400" b="1" dirty="0">
                <a:solidFill>
                  <a:srgbClr val="43536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                               </a:t>
            </a:r>
            <a:endParaRPr lang="zh-CN" altLang="en-US" sz="2400" b="1" dirty="0">
              <a:solidFill>
                <a:srgbClr val="43536A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endParaRPr lang="en-US" dirty="0">
              <a:solidFill>
                <a:srgbClr val="43536A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r>
              <a:rPr lang="en-US" dirty="0">
                <a:solidFill>
                  <a:srgbClr val="43536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</a:t>
            </a:r>
            <a:endParaRPr lang="en-US" altLang="zh-CN" dirty="0">
              <a:solidFill>
                <a:srgbClr val="43536A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endParaRPr lang="en-US" altLang="zh-CN" dirty="0">
              <a:solidFill>
                <a:srgbClr val="43536A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572000" y="905311"/>
            <a:ext cx="5064760" cy="48103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400" b="1" dirty="0">
                <a:solidFill>
                  <a:srgbClr val="43536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研究方法</a:t>
            </a:r>
            <a:r>
              <a:rPr lang="en-US" altLang="zh-CN" sz="2400" b="1" dirty="0">
                <a:solidFill>
                  <a:srgbClr val="43536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                              </a:t>
            </a:r>
            <a:endParaRPr lang="zh-CN" altLang="en-US" sz="2400" b="1" dirty="0">
              <a:solidFill>
                <a:srgbClr val="43536A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endParaRPr lang="zh-CN" altLang="en-US" dirty="0">
              <a:solidFill>
                <a:srgbClr val="43536A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16946" y="4357449"/>
            <a:ext cx="1402715" cy="351155"/>
          </a:xfrm>
          <a:prstGeom prst="rect">
            <a:avLst/>
          </a:prstGeom>
          <a:solidFill>
            <a:srgbClr val="2C7473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600150" y="4371832"/>
            <a:ext cx="1402715" cy="35115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文献调研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2073350" y="4526066"/>
            <a:ext cx="560705" cy="0"/>
          </a:xfrm>
          <a:prstGeom prst="straightConnector1">
            <a:avLst/>
          </a:prstGeom>
          <a:noFill/>
          <a:ln w="25400">
            <a:solidFill>
              <a:srgbClr val="2C7473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2737847" y="4357449"/>
            <a:ext cx="1402715" cy="351155"/>
          </a:xfrm>
          <a:prstGeom prst="rect">
            <a:avLst/>
          </a:prstGeom>
          <a:solidFill>
            <a:srgbClr val="A85A34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2737846" y="4357448"/>
            <a:ext cx="1402715" cy="35115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模型设计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194251" y="4526066"/>
            <a:ext cx="560705" cy="0"/>
          </a:xfrm>
          <a:prstGeom prst="straightConnector1">
            <a:avLst/>
          </a:prstGeom>
          <a:noFill/>
          <a:ln w="25400">
            <a:solidFill>
              <a:srgbClr val="A85A34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4841602" y="4338910"/>
            <a:ext cx="1402715" cy="351155"/>
          </a:xfrm>
          <a:prstGeom prst="rect">
            <a:avLst/>
          </a:prstGeom>
          <a:solidFill>
            <a:srgbClr val="64748B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4825441" y="4335580"/>
            <a:ext cx="1402715" cy="35115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实地验证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298006" y="4526066"/>
            <a:ext cx="560705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6945357" y="4331855"/>
            <a:ext cx="1402715" cy="351155"/>
          </a:xfrm>
          <a:prstGeom prst="rect">
            <a:avLst/>
          </a:prstGeom>
          <a:solidFill>
            <a:srgbClr val="04AF64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6920623" y="4331855"/>
            <a:ext cx="1402715" cy="35115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优化迭代</a:t>
            </a:r>
            <a:endParaRPr lang="en-US" sz="1600" dirty="0"/>
          </a:p>
        </p:txBody>
      </p:sp>
      <p:sp>
        <p:nvSpPr>
          <p:cNvPr id="9" name="流程图: 可选过程 8"/>
          <p:cNvSpPr/>
          <p:nvPr/>
        </p:nvSpPr>
        <p:spPr>
          <a:xfrm flipH="1">
            <a:off x="4271010" y="961390"/>
            <a:ext cx="36000" cy="3077210"/>
          </a:xfrm>
          <a:prstGeom prst="flowChartAlternateProcess">
            <a:avLst/>
          </a:prstGeom>
          <a:solidFill>
            <a:srgbClr val="43536A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2A96BDA6-3068-6F02-45B8-0222396B06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150" y="1637143"/>
            <a:ext cx="353599" cy="359695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892B8CB0-0200-FE33-4B99-9B6102E76036}"/>
              </a:ext>
            </a:extLst>
          </p:cNvPr>
          <p:cNvSpPr txBox="1"/>
          <p:nvPr/>
        </p:nvSpPr>
        <p:spPr>
          <a:xfrm>
            <a:off x="983265" y="1527940"/>
            <a:ext cx="30997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构建</a:t>
            </a:r>
            <a:r>
              <a:rPr lang="en-US" altLang="zh-CN" sz="16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AI + 大数据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赋能的民族地区基层纠纷智能调解系统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80E4D37-5D91-E536-2D4C-A83C66925472}"/>
              </a:ext>
            </a:extLst>
          </p:cNvPr>
          <p:cNvSpPr txBox="1"/>
          <p:nvPr/>
        </p:nvSpPr>
        <p:spPr>
          <a:xfrm>
            <a:off x="991508" y="2350551"/>
            <a:ext cx="30997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rgbClr val="1E293B"/>
                </a:solidFill>
                <a:latin typeface="宋体" panose="02010600030101010101" pitchFamily="2" charset="-122"/>
                <a:ea typeface="宋体" panose="02010600030101010101" pitchFamily="2" charset="-122"/>
                <a:cs typeface="Quattrocento Sans" panose="020B0502050000020003" pitchFamily="34" charset="-120"/>
                <a:sym typeface="+mn-ea"/>
              </a:rPr>
              <a:t>实现</a:t>
            </a:r>
            <a:r>
              <a:rPr lang="en-US" altLang="zh-CN" sz="1600" b="1" dirty="0">
                <a:solidFill>
                  <a:srgbClr val="1E293B"/>
                </a:solidFill>
                <a:latin typeface="宋体" panose="02010600030101010101" pitchFamily="2" charset="-122"/>
                <a:ea typeface="宋体" panose="02010600030101010101" pitchFamily="2" charset="-122"/>
                <a:cs typeface="Quattrocento Sans" panose="020B0502050000020003" pitchFamily="34" charset="-120"/>
                <a:sym typeface="+mn-ea"/>
              </a:rPr>
              <a:t>国家法与民族习惯法</a:t>
            </a:r>
            <a:r>
              <a:rPr lang="en-US" altLang="zh-CN" sz="1600" dirty="0">
                <a:solidFill>
                  <a:srgbClr val="1E293B"/>
                </a:solidFill>
                <a:latin typeface="宋体" panose="02010600030101010101" pitchFamily="2" charset="-122"/>
                <a:ea typeface="宋体" panose="02010600030101010101" pitchFamily="2" charset="-122"/>
                <a:cs typeface="Quattrocento Sans" panose="020B0502050000020003" pitchFamily="34" charset="-120"/>
                <a:sym typeface="+mn-ea"/>
              </a:rPr>
              <a:t>的智能适配与冲突预警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6E2E0FB-EF7E-E00C-BF27-88F55E2C8C67}"/>
              </a:ext>
            </a:extLst>
          </p:cNvPr>
          <p:cNvSpPr txBox="1"/>
          <p:nvPr/>
        </p:nvSpPr>
        <p:spPr>
          <a:xfrm>
            <a:off x="983266" y="3192063"/>
            <a:ext cx="309978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rgbClr val="1E293B"/>
                </a:solidFill>
                <a:latin typeface="宋体" panose="02010600030101010101" pitchFamily="2" charset="-122"/>
                <a:ea typeface="宋体" panose="02010600030101010101" pitchFamily="2" charset="-122"/>
                <a:cs typeface="Quattrocento Sans" panose="020B0502050000020003" pitchFamily="34" charset="-120"/>
                <a:sym typeface="+mn-ea"/>
              </a:rPr>
              <a:t>形成可复制、可推广的技术路径，</a:t>
            </a:r>
            <a:r>
              <a:rPr lang="en-US" altLang="zh-CN" sz="1600" b="1" dirty="0">
                <a:solidFill>
                  <a:srgbClr val="1E293B"/>
                </a:solidFill>
                <a:latin typeface="宋体" panose="02010600030101010101" pitchFamily="2" charset="-122"/>
                <a:ea typeface="宋体" panose="02010600030101010101" pitchFamily="2" charset="-122"/>
                <a:cs typeface="Quattrocento Sans" panose="020B0502050000020003" pitchFamily="34" charset="-120"/>
                <a:sym typeface="+mn-ea"/>
              </a:rPr>
              <a:t>铸牢中华民族共同体意识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sz="1600" dirty="0">
              <a:solidFill>
                <a:srgbClr val="1E293B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  <a:sym typeface="+mn-ea"/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C1DE19F9-8B92-C07C-1B3E-83192FE7D7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6461" y="2460687"/>
            <a:ext cx="445047" cy="353599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CC100A3A-A9BE-B814-270E-7C6816B70A2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2184" y="3266091"/>
            <a:ext cx="353599" cy="353599"/>
          </a:xfrm>
          <a:prstGeom prst="rect">
            <a:avLst/>
          </a:prstGeom>
        </p:spPr>
      </p:pic>
      <p:sp>
        <p:nvSpPr>
          <p:cNvPr id="22" name="文本框 21">
            <a:extLst>
              <a:ext uri="{FF2B5EF4-FFF2-40B4-BE49-F238E27FC236}">
                <a16:creationId xmlns:a16="http://schemas.microsoft.com/office/drawing/2014/main" id="{4364CEA2-2FCB-6E0B-349F-AC7240342BF6}"/>
              </a:ext>
            </a:extLst>
          </p:cNvPr>
          <p:cNvSpPr txBox="1"/>
          <p:nvPr/>
        </p:nvSpPr>
        <p:spPr>
          <a:xfrm>
            <a:off x="4541370" y="1788633"/>
            <a:ext cx="48079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梳理多元纠纷解决理论与 AI 法治融合路径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zh-CN" altLang="en-US" sz="16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7FDE5346-431B-2645-4C29-DB6C45C0EB28}"/>
              </a:ext>
            </a:extLst>
          </p:cNvPr>
          <p:cNvSpPr txBox="1"/>
          <p:nvPr/>
        </p:nvSpPr>
        <p:spPr>
          <a:xfrm>
            <a:off x="4541370" y="2617521"/>
            <a:ext cx="4807974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  <a:cs typeface="Quattrocento Sans" panose="020B0502050000020003" pitchFamily="34" charset="-120"/>
                <a:sym typeface="+mn-ea"/>
              </a:rPr>
              <a:t>云南元阳县"共享法庭"实地调研与流程分析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zh-CN" altLang="en-US" dirty="0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2F28689C-BBE3-99E1-08B0-532404A9D58D}"/>
              </a:ext>
            </a:extLst>
          </p:cNvPr>
          <p:cNvSpPr txBox="1"/>
          <p:nvPr/>
        </p:nvSpPr>
        <p:spPr>
          <a:xfrm>
            <a:off x="4566778" y="3474712"/>
            <a:ext cx="48079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React + FastAPI前后端分离,</a:t>
            </a:r>
            <a:r>
              <a:rPr lang="en-US" altLang="zh-CN" sz="16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双引擎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融合算法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39" name="Text 12">
            <a:extLst>
              <a:ext uri="{FF2B5EF4-FFF2-40B4-BE49-F238E27FC236}">
                <a16:creationId xmlns:a16="http://schemas.microsoft.com/office/drawing/2014/main" id="{AB48223E-E2C9-21C4-727A-F4019EBAE961}"/>
              </a:ext>
            </a:extLst>
          </p:cNvPr>
          <p:cNvSpPr/>
          <p:nvPr/>
        </p:nvSpPr>
        <p:spPr>
          <a:xfrm>
            <a:off x="4592810" y="1510032"/>
            <a:ext cx="1400935" cy="293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文献研究法</a:t>
            </a:r>
            <a:endParaRPr lang="en-US" sz="1600" dirty="0"/>
          </a:p>
        </p:txBody>
      </p:sp>
      <p:sp>
        <p:nvSpPr>
          <p:cNvPr id="43" name="Text 12">
            <a:extLst>
              <a:ext uri="{FF2B5EF4-FFF2-40B4-BE49-F238E27FC236}">
                <a16:creationId xmlns:a16="http://schemas.microsoft.com/office/drawing/2014/main" id="{2AF8C133-26C6-787F-32B1-B28022B84E6B}"/>
              </a:ext>
            </a:extLst>
          </p:cNvPr>
          <p:cNvSpPr/>
          <p:nvPr/>
        </p:nvSpPr>
        <p:spPr>
          <a:xfrm>
            <a:off x="4610509" y="2323721"/>
            <a:ext cx="1400935" cy="293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zh-CN" alt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案例</a:t>
            </a: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研究法</a:t>
            </a:r>
            <a:endParaRPr lang="en-US" sz="1600" dirty="0"/>
          </a:p>
        </p:txBody>
      </p:sp>
      <p:sp>
        <p:nvSpPr>
          <p:cNvPr id="45" name="Text 12">
            <a:extLst>
              <a:ext uri="{FF2B5EF4-FFF2-40B4-BE49-F238E27FC236}">
                <a16:creationId xmlns:a16="http://schemas.microsoft.com/office/drawing/2014/main" id="{AECED36C-D2F2-D516-9E26-6AFD2F7C766F}"/>
              </a:ext>
            </a:extLst>
          </p:cNvPr>
          <p:cNvSpPr/>
          <p:nvPr/>
        </p:nvSpPr>
        <p:spPr>
          <a:xfrm>
            <a:off x="4610509" y="3168688"/>
            <a:ext cx="1400935" cy="293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zh-CN" alt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技术实现</a:t>
            </a: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法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0" y="3283268"/>
            <a:ext cx="2340864" cy="938689"/>
          </a:xfrm>
          <a:prstGeom prst="rect">
            <a:avLst/>
          </a:prstGeom>
          <a:noFill/>
        </p:spPr>
        <p:txBody>
          <a:bodyPr wrap="square" lIns="95250" tIns="95250" rIns="95250" bIns="95250" rtlCol="0" anchor="t"/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57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1500" dirty="0"/>
          </a:p>
        </p:txBody>
      </p:sp>
      <p:sp>
        <p:nvSpPr>
          <p:cNvPr id="3" name="Text 1"/>
          <p:cNvSpPr>
            <a:spLocks noGrp="1"/>
          </p:cNvSpPr>
          <p:nvPr>
            <p:ph idx="101" hasCustomPrompt="1"/>
          </p:nvPr>
        </p:nvSpPr>
        <p:spPr>
          <a:xfrm>
            <a:off x="636937" y="395692"/>
            <a:ext cx="5577840" cy="865537"/>
          </a:xfrm>
          <a:prstGeom prst="rect">
            <a:avLst/>
          </a:prstGeom>
          <a:noFill/>
        </p:spPr>
        <p:txBody>
          <a:bodyPr wrap="square" lIns="95250" tIns="95250" rIns="95250" bIns="95250" rtlCol="0" anchor="t"/>
          <a:lstStyle/>
          <a:p>
            <a:pPr marL="0" algn="ctr">
              <a:lnSpc>
                <a:spcPct val="100000"/>
              </a:lnSpc>
              <a:spcBef>
                <a:spcPts val="375"/>
              </a:spcBef>
              <a:buClrTx/>
              <a:buSzTx/>
              <a:buNone/>
            </a:pPr>
            <a:r>
              <a:rPr lang="zh-CN" altLang="en-US" sz="4000" b="1" dirty="0">
                <a:solidFill>
                  <a:srgbClr val="43536A"/>
                </a:solidFill>
                <a:sym typeface="+mn-ea"/>
              </a:rPr>
              <a:t>研究主要进展和成果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矩形: 圆角 49">
            <a:extLst>
              <a:ext uri="{FF2B5EF4-FFF2-40B4-BE49-F238E27FC236}">
                <a16:creationId xmlns:a16="http://schemas.microsoft.com/office/drawing/2014/main" id="{8803D3FE-1567-A3A1-B103-4957FFE0738A}"/>
              </a:ext>
            </a:extLst>
          </p:cNvPr>
          <p:cNvSpPr/>
          <p:nvPr/>
        </p:nvSpPr>
        <p:spPr>
          <a:xfrm>
            <a:off x="278028" y="977177"/>
            <a:ext cx="3427079" cy="1897956"/>
          </a:xfrm>
          <a:prstGeom prst="roundRect">
            <a:avLst/>
          </a:prstGeom>
          <a:blipFill>
            <a:blip r:embed="rId3"/>
            <a:stretch>
              <a:fillRect/>
            </a:stretch>
          </a:blipFill>
          <a:scene3d>
            <a:camera prst="perspectiveRight">
              <a:rot lat="0" lon="20400000" rev="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矩形: 圆角 51">
            <a:extLst>
              <a:ext uri="{FF2B5EF4-FFF2-40B4-BE49-F238E27FC236}">
                <a16:creationId xmlns:a16="http://schemas.microsoft.com/office/drawing/2014/main" id="{F7953F32-11AE-CFCF-F1E8-6C4A2DF21BAA}"/>
              </a:ext>
            </a:extLst>
          </p:cNvPr>
          <p:cNvSpPr/>
          <p:nvPr/>
        </p:nvSpPr>
        <p:spPr>
          <a:xfrm>
            <a:off x="789183" y="1978872"/>
            <a:ext cx="3146969" cy="1792522"/>
          </a:xfrm>
          <a:prstGeom prst="roundRect">
            <a:avLst/>
          </a:prstGeom>
          <a:blipFill>
            <a:blip r:embed="rId4"/>
            <a:stretch>
              <a:fillRect/>
            </a:stretch>
          </a:blipFill>
          <a:ln>
            <a:solidFill>
              <a:schemeClr val="accent1">
                <a:shade val="15000"/>
              </a:schemeClr>
            </a:solidFill>
          </a:ln>
          <a:scene3d>
            <a:camera prst="perspectiveRight">
              <a:rot lat="0" lon="20400000" rev="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Text 2"/>
          <p:cNvSpPr>
            <a:spLocks noGrp="1"/>
          </p:cNvSpPr>
          <p:nvPr>
            <p:ph type="title" idx="100" hasCustomPrompt="1"/>
          </p:nvPr>
        </p:nvSpPr>
        <p:spPr>
          <a:xfrm>
            <a:off x="-88265" y="112521"/>
            <a:ext cx="8994775" cy="591185"/>
          </a:xfrm>
          <a:prstGeom prst="rect">
            <a:avLst/>
          </a:prstGeom>
          <a:noFill/>
        </p:spPr>
        <p:txBody>
          <a:bodyPr wrap="square" lIns="95250" tIns="95250" rIns="95250" bIns="95250" rtlCol="0" anchor="t"/>
          <a:lstStyle/>
          <a:p>
            <a:pPr marL="457200" algn="l" fontAlgn="auto">
              <a:lnSpc>
                <a:spcPct val="150000"/>
              </a:lnSpc>
              <a:spcBef>
                <a:spcPts val="0"/>
              </a:spcBef>
              <a:buNone/>
              <a:extLst>
                <a:ext uri="{35155182-B16C-46BC-9424-99874614C6A1}">
                  <wpsdc:marlchars xmlns="" xmlns:wpsdc="http://www.wps.cn/officeDocument/2017/drawingmlCustomData" val="200" checksum="2975741746"/>
                </a:ext>
              </a:extLst>
            </a:pPr>
            <a:r>
              <a:rPr lang="zh-CN" altLang="en-US" sz="2400" b="1" dirty="0">
                <a:solidFill>
                  <a:srgbClr val="43536A"/>
                </a:solidFill>
                <a:latin typeface="黑体" panose="02010609060101010101" pitchFamily="34" charset="-122"/>
                <a:ea typeface="黑体" panose="02010609060101010101" pitchFamily="34" charset="-122"/>
              </a:rPr>
              <a:t>项目进展</a:t>
            </a:r>
            <a:br>
              <a:rPr lang="zh-CN" altLang="en-US" sz="2400" b="1" dirty="0">
                <a:solidFill>
                  <a:srgbClr val="43536A"/>
                </a:solidFill>
                <a:latin typeface="黑体" panose="02010609060101010101" pitchFamily="34" charset="-122"/>
                <a:ea typeface="黑体" panose="02010609060101010101" pitchFamily="34" charset="-122"/>
              </a:rPr>
            </a:br>
            <a:r>
              <a:rPr altLang="zh-CN" sz="2400" b="1" dirty="0">
                <a:solidFill>
                  <a:srgbClr val="43536A"/>
                </a:solidFill>
                <a:latin typeface="黑体" panose="02010609060101010101" pitchFamily="34" charset="-122"/>
                <a:ea typeface="黑体" panose="02010609060101010101" pitchFamily="34" charset="-122"/>
              </a:rPr>
              <a:t>  </a:t>
            </a:r>
            <a:br>
              <a:rPr lang="zh-CN" altLang="en-US" sz="2000" dirty="0">
                <a:solidFill>
                  <a:srgbClr val="43536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</a:br>
            <a:r>
              <a:rPr lang="zh-CN" altLang="en-US" sz="2000" dirty="0">
                <a:solidFill>
                  <a:srgbClr val="43536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altLang="zh-CN" sz="2000" dirty="0">
                <a:solidFill>
                  <a:srgbClr val="43536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endParaRPr lang="zh-CN" altLang="en-US" sz="2000" dirty="0">
              <a:solidFill>
                <a:srgbClr val="43536A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21" name="Image 1" descr="https://ike-mindshow-user.oss-cn-shanghai.aliyuncs.com/107/release/user_file/2025_05_06/0f7862d76fb9e031991b330399180e7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3265" y="152376"/>
            <a:ext cx="1880735" cy="418124"/>
          </a:xfrm>
          <a:prstGeom prst="rect">
            <a:avLst/>
          </a:prstGeom>
        </p:spPr>
      </p:pic>
      <p:sp>
        <p:nvSpPr>
          <p:cNvPr id="48" name="矩形: 圆角 47">
            <a:extLst>
              <a:ext uri="{FF2B5EF4-FFF2-40B4-BE49-F238E27FC236}">
                <a16:creationId xmlns:a16="http://schemas.microsoft.com/office/drawing/2014/main" id="{167E8752-4118-1089-8293-A167452FF209}"/>
              </a:ext>
            </a:extLst>
          </p:cNvPr>
          <p:cNvSpPr/>
          <p:nvPr/>
        </p:nvSpPr>
        <p:spPr>
          <a:xfrm>
            <a:off x="1540490" y="2928228"/>
            <a:ext cx="3190793" cy="2028391"/>
          </a:xfrm>
          <a:prstGeom prst="roundRect">
            <a:avLst/>
          </a:prstGeom>
          <a:blipFill>
            <a:blip r:embed="rId6"/>
            <a:stretch>
              <a:fillRect/>
            </a:stretch>
          </a:blipFill>
          <a:ln>
            <a:solidFill>
              <a:schemeClr val="accent1">
                <a:shade val="15000"/>
              </a:schemeClr>
            </a:solidFill>
          </a:ln>
          <a:scene3d>
            <a:camera prst="perspectiveRight">
              <a:rot lat="0" lon="20400000" rev="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9B42488-5200-923D-73EF-8630227EEB6E}"/>
              </a:ext>
            </a:extLst>
          </p:cNvPr>
          <p:cNvSpPr txBox="1"/>
          <p:nvPr/>
        </p:nvSpPr>
        <p:spPr>
          <a:xfrm>
            <a:off x="4731283" y="1009918"/>
            <a:ext cx="4005662" cy="357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latin typeface="华文中宋" panose="02010600040101010101" pitchFamily="2" charset="-122"/>
                <a:ea typeface="华文中宋" panose="02010600040101010101" pitchFamily="2" charset="-122"/>
                <a:cs typeface="宋体" panose="02010600030101010101" pitchFamily="2" charset="-122"/>
                <a:sym typeface="+mn-ea"/>
              </a:rPr>
              <a:t>  目前，我们小组项目的进展顺利，通过进行大量的资料查询、实地访问以及线上问卷等方式，共同完成了“智调民和”</a:t>
            </a:r>
            <a:r>
              <a:rPr lang="en-US" altLang="zh-CN" sz="1600" dirty="0">
                <a:latin typeface="华文中宋" panose="02010600040101010101" pitchFamily="2" charset="-122"/>
                <a:ea typeface="华文中宋" panose="02010600040101010101" pitchFamily="2" charset="-122"/>
                <a:cs typeface="宋体" panose="02010600030101010101" pitchFamily="2" charset="-122"/>
                <a:sym typeface="+mn-ea"/>
              </a:rPr>
              <a:t>——</a:t>
            </a:r>
            <a:r>
              <a:rPr lang="zh-CN" altLang="en-US" sz="1600" dirty="0">
                <a:latin typeface="华文中宋" panose="02010600040101010101" pitchFamily="2" charset="-122"/>
                <a:ea typeface="华文中宋" panose="02010600040101010101" pitchFamily="2" charset="-122"/>
                <a:cs typeface="宋体" panose="02010600030101010101" pitchFamily="2" charset="-122"/>
                <a:sym typeface="+mn-ea"/>
              </a:rPr>
              <a:t>民族地区基层纠纷职能调节系统的构建。</a:t>
            </a:r>
            <a:endParaRPr lang="en-US" altLang="zh-CN" sz="1600" dirty="0">
              <a:latin typeface="华文中宋" panose="02010600040101010101" pitchFamily="2" charset="-122"/>
              <a:ea typeface="华文中宋" panose="02010600040101010101" pitchFamily="2" charset="-122"/>
              <a:cs typeface="宋体" panose="02010600030101010101" pitchFamily="2" charset="-122"/>
              <a:sym typeface="+mn-ea"/>
            </a:endParaRPr>
          </a:p>
          <a:p>
            <a:endParaRPr lang="en-US" altLang="zh-CN" sz="1600" dirty="0">
              <a:latin typeface="华文中宋" panose="02010600040101010101" pitchFamily="2" charset="-122"/>
              <a:ea typeface="华文中宋" panose="02010600040101010101" pitchFamily="2" charset="-122"/>
              <a:cs typeface="宋体" panose="02010600030101010101" pitchFamily="2" charset="-122"/>
              <a:sym typeface="+mn-ea"/>
            </a:endParaRPr>
          </a:p>
          <a:p>
            <a:br>
              <a:rPr lang="zh-CN" altLang="en-US" sz="1600" dirty="0">
                <a:latin typeface="华文中宋" panose="02010600040101010101" pitchFamily="2" charset="-122"/>
                <a:ea typeface="华文中宋" panose="02010600040101010101" pitchFamily="2" charset="-122"/>
                <a:cs typeface="宋体" panose="02010600030101010101" pitchFamily="2" charset="-122"/>
                <a:sym typeface="+mn-ea"/>
              </a:rPr>
            </a:br>
            <a:r>
              <a:rPr lang="zh-CN" altLang="en-US" sz="1600" dirty="0">
                <a:latin typeface="华文中宋" panose="02010600040101010101" pitchFamily="2" charset="-122"/>
                <a:ea typeface="华文中宋" panose="02010600040101010101" pitchFamily="2" charset="-122"/>
                <a:cs typeface="宋体" panose="02010600030101010101" pitchFamily="2" charset="-122"/>
                <a:sym typeface="+mn-ea"/>
              </a:rPr>
              <a:t>  该系统分为工作台、智能调解、案件管理、知识库、培训资讯共五个部分。法律工作者可以在</a:t>
            </a:r>
            <a:r>
              <a:rPr lang="en-US" altLang="zh-CN" sz="1600" dirty="0">
                <a:latin typeface="华文中宋" panose="02010600040101010101" pitchFamily="2" charset="-122"/>
                <a:ea typeface="华文中宋" panose="02010600040101010101" pitchFamily="2" charset="-122"/>
                <a:cs typeface="宋体" panose="02010600030101010101" pitchFamily="2" charset="-122"/>
                <a:sym typeface="+mn-ea"/>
              </a:rPr>
              <a:t>AI</a:t>
            </a:r>
            <a:r>
              <a:rPr lang="zh-CN" altLang="en-US" sz="1600" dirty="0">
                <a:latin typeface="华文中宋" panose="02010600040101010101" pitchFamily="2" charset="-122"/>
                <a:ea typeface="华文中宋" panose="02010600040101010101" pitchFamily="2" charset="-122"/>
                <a:cs typeface="宋体" panose="02010600030101010101" pitchFamily="2" charset="-122"/>
                <a:sym typeface="+mn-ea"/>
              </a:rPr>
              <a:t>大数据技术的辅助下，查阅知识库和相关法条，联系相似案件，进行基层纠纷的调解，并生成相应的法律文书。其节省了工作时间，节约司法资源，提高民族地区基层治理的效率。</a:t>
            </a:r>
            <a:br>
              <a:rPr lang="zh-CN" altLang="en-US" sz="1800" dirty="0">
                <a:solidFill>
                  <a:srgbClr val="43536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</a:br>
            <a:endParaRPr lang="zh-CN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标题 17"/>
          <p:cNvSpPr>
            <a:spLocks noGrp="1"/>
          </p:cNvSpPr>
          <p:nvPr>
            <p:ph type="title" idx="100"/>
          </p:nvPr>
        </p:nvSpPr>
        <p:spPr>
          <a:xfrm>
            <a:off x="365451" y="219532"/>
            <a:ext cx="8736511" cy="591217"/>
          </a:xfrm>
        </p:spPr>
        <p:txBody>
          <a:bodyPr/>
          <a:lstStyle/>
          <a:p>
            <a:r>
              <a:rPr lang="zh-CN" altLang="en-US" sz="2400" b="1" dirty="0">
                <a:solidFill>
                  <a:srgbClr val="43536A"/>
                </a:solidFill>
                <a:latin typeface="黑体" panose="02010609060101010101" pitchFamily="34" charset="-122"/>
                <a:ea typeface="黑体" panose="02010609060101010101" pitchFamily="34" charset="-122"/>
              </a:rPr>
              <a:t>项目成果</a:t>
            </a:r>
            <a:br>
              <a:rPr lang="zh-CN" altLang="en-US" sz="2400" b="1" dirty="0">
                <a:solidFill>
                  <a:srgbClr val="43536A"/>
                </a:solidFill>
                <a:latin typeface="黑体" panose="02010609060101010101" pitchFamily="34" charset="-122"/>
                <a:ea typeface="黑体" panose="02010609060101010101" pitchFamily="34" charset="-122"/>
              </a:rPr>
            </a:br>
            <a:endParaRPr lang="zh-CN" altLang="en-US" dirty="0"/>
          </a:p>
        </p:txBody>
      </p:sp>
      <p:pic>
        <p:nvPicPr>
          <p:cNvPr id="21" name="Image 1" descr="https://ike-mindshow-user.oss-cn-shanghai.aliyuncs.com/107/release/user_file/2025_05_06/0f7862d76fb9e031991b330399180e7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3265" y="152376"/>
            <a:ext cx="1880735" cy="418124"/>
          </a:xfrm>
          <a:prstGeom prst="rect">
            <a:avLst/>
          </a:prstGeom>
        </p:spPr>
      </p:pic>
      <p:sp>
        <p:nvSpPr>
          <p:cNvPr id="20" name="文本框 19"/>
          <p:cNvSpPr txBox="1"/>
          <p:nvPr/>
        </p:nvSpPr>
        <p:spPr>
          <a:xfrm>
            <a:off x="248940" y="1511363"/>
            <a:ext cx="2016412" cy="2120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    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在</a:t>
            </a:r>
            <a:r>
              <a:rPr lang="zh-CN" altLang="en-US" dirty="0">
                <a:solidFill>
                  <a:schemeClr val="accent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首页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界面，共分为工作台、智能调解、案件管理、知识库、培训咨询五个模块。</a:t>
            </a:r>
          </a:p>
        </p:txBody>
      </p:sp>
      <p:pic>
        <p:nvPicPr>
          <p:cNvPr id="5" name="图片 4" descr="网站5模块展示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1897" y="810749"/>
            <a:ext cx="6671200" cy="367675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100"/>
          </p:nvPr>
        </p:nvSpPr>
        <p:spPr>
          <a:xfrm>
            <a:off x="407489" y="212934"/>
            <a:ext cx="8736511" cy="591217"/>
          </a:xfrm>
        </p:spPr>
        <p:txBody>
          <a:bodyPr/>
          <a:lstStyle/>
          <a:p>
            <a:r>
              <a:rPr lang="zh-CN" altLang="en-US" sz="2400" b="1" dirty="0">
                <a:solidFill>
                  <a:srgbClr val="43536A"/>
                </a:solidFill>
                <a:latin typeface="黑体" panose="02010609060101010101" pitchFamily="34" charset="-122"/>
                <a:ea typeface="黑体" panose="02010609060101010101" pitchFamily="34" charset="-122"/>
                <a:sym typeface="+mn-ea"/>
              </a:rPr>
              <a:t>项目成果</a:t>
            </a:r>
            <a:endParaRPr lang="zh-CN" altLang="en-US" sz="24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2259" y="785495"/>
            <a:ext cx="6888480" cy="3892550"/>
          </a:xfrm>
          <a:prstGeom prst="rect">
            <a:avLst/>
          </a:prstGeom>
        </p:spPr>
      </p:pic>
      <p:pic>
        <p:nvPicPr>
          <p:cNvPr id="21" name="Image 1" descr="https://ike-mindshow-user.oss-cn-shanghai.aliyuncs.com/107/release/user_file/2025_05_06/0f7862d76fb9e031991b330399180e7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3265" y="152376"/>
            <a:ext cx="1880735" cy="418124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53385" y="1303614"/>
            <a:ext cx="2058874" cy="2536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    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在</a:t>
            </a:r>
            <a:r>
              <a:rPr lang="zh-CN" altLang="en-US" dirty="0">
                <a:solidFill>
                  <a:schemeClr val="accent2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智能调解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界面，调解员可以借助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AI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进行智能分析，通过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AI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提供的建议与相似案例，进行对纠纷的评判。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100"/>
          </p:nvPr>
        </p:nvSpPr>
        <p:spPr>
          <a:xfrm>
            <a:off x="407489" y="274891"/>
            <a:ext cx="8736511" cy="591217"/>
          </a:xfrm>
        </p:spPr>
        <p:txBody>
          <a:bodyPr/>
          <a:lstStyle/>
          <a:p>
            <a:r>
              <a:rPr lang="zh-CN" altLang="en-US" sz="2400" b="1" dirty="0">
                <a:solidFill>
                  <a:srgbClr val="43536A"/>
                </a:solidFill>
                <a:latin typeface="黑体" panose="02010609060101010101" pitchFamily="34" charset="-122"/>
                <a:ea typeface="黑体" panose="02010609060101010101" pitchFamily="34" charset="-122"/>
                <a:sym typeface="+mn-ea"/>
              </a:rPr>
              <a:t>项目成果</a:t>
            </a:r>
            <a:endParaRPr lang="zh-CN" altLang="en-US" sz="2400" dirty="0"/>
          </a:p>
        </p:txBody>
      </p:sp>
      <p:pic>
        <p:nvPicPr>
          <p:cNvPr id="21" name="Image 1" descr="https://ike-mindshow-user.oss-cn-shanghai.aliyuncs.com/107/release/user_file/2025_05_06/0f7862d76fb9e031991b330399180e7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3265" y="152376"/>
            <a:ext cx="1880735" cy="418124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0445" y="842947"/>
            <a:ext cx="3424555" cy="428625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3076" y="866109"/>
            <a:ext cx="3388835" cy="4195538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66676" y="1303614"/>
            <a:ext cx="2011680" cy="2536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    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其中，</a:t>
            </a:r>
            <a:r>
              <a:rPr lang="zh-CN" altLang="en-US" dirty="0">
                <a:solidFill>
                  <a:schemeClr val="accent6">
                    <a:lumMod val="7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知识库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将国家现行法律法规与民族习惯法相比较，帮助调解员指出冲突所在，大大提高了办案效率。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 1" descr="https://ike-mindshow-user.oss-cn-shanghai.aliyuncs.com/107/release/user_file/2025_05_06/0f7862d76fb9e031991b330399180e7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3265" y="152376"/>
            <a:ext cx="1880735" cy="418124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0424" y="786130"/>
            <a:ext cx="6193790" cy="416560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82388" y="1423814"/>
            <a:ext cx="2508250" cy="2536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    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在</a:t>
            </a:r>
            <a:r>
              <a:rPr lang="zh-CN" altLang="en-US" dirty="0">
                <a:solidFill>
                  <a:schemeClr val="tx2">
                    <a:lumMod val="7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培训咨询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界面调解员可以学习最新政策及调解案例，积累丰富的法律知识与具体案例，为纠纷调解打下理论和实践基础。</a:t>
            </a:r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8F2D545B-D70B-594B-03BD-F51D8A349CFF}"/>
              </a:ext>
            </a:extLst>
          </p:cNvPr>
          <p:cNvSpPr txBox="1">
            <a:spLocks/>
          </p:cNvSpPr>
          <p:nvPr/>
        </p:nvSpPr>
        <p:spPr>
          <a:xfrm>
            <a:off x="407489" y="274891"/>
            <a:ext cx="8736511" cy="591217"/>
          </a:xfrm>
          <a:prstGeom prst="rect">
            <a:avLst/>
          </a:prstGeom>
          <a:noFill/>
        </p:spPr>
        <p:txBody>
          <a:bodyPr wrap="square" rtlCol="0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375"/>
              </a:spcBef>
              <a:buNone/>
              <a:defRPr lang="en-US" sz="1900" kern="1200" dirty="0">
                <a:solidFill>
                  <a:srgbClr val="000000"/>
                </a:solidFill>
                <a:latin typeface="阿里巴巴普惠体 Medium" pitchFamily="34" charset="0"/>
                <a:ea typeface="阿里巴巴普惠体 Medium" pitchFamily="34" charset="-122"/>
                <a:cs typeface="阿里巴巴普惠体 Medium" pitchFamily="34" charset="-120"/>
              </a:defRPr>
            </a:lvl1pPr>
          </a:lstStyle>
          <a:p>
            <a:r>
              <a:rPr lang="zh-CN" altLang="en-US" sz="2400" b="1">
                <a:solidFill>
                  <a:srgbClr val="43536A"/>
                </a:solidFill>
                <a:latin typeface="黑体" panose="02010609060101010101" pitchFamily="34" charset="-122"/>
                <a:ea typeface="黑体" panose="02010609060101010101" pitchFamily="34" charset="-122"/>
                <a:sym typeface="+mn-ea"/>
              </a:rPr>
              <a:t>项目成果</a:t>
            </a:r>
            <a:endParaRPr lang="zh-CN" altLang="en-US" sz="2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0" y="3283268"/>
            <a:ext cx="2340864" cy="938689"/>
          </a:xfrm>
          <a:prstGeom prst="rect">
            <a:avLst/>
          </a:prstGeom>
          <a:noFill/>
        </p:spPr>
        <p:txBody>
          <a:bodyPr wrap="square" lIns="95250" tIns="95250" rIns="95250" bIns="95250" rtlCol="0" anchor="t"/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57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1500" dirty="0"/>
          </a:p>
        </p:txBody>
      </p:sp>
      <p:sp>
        <p:nvSpPr>
          <p:cNvPr id="3" name="Text 1"/>
          <p:cNvSpPr>
            <a:spLocks noGrp="1"/>
          </p:cNvSpPr>
          <p:nvPr>
            <p:ph idx="101" hasCustomPrompt="1"/>
          </p:nvPr>
        </p:nvSpPr>
        <p:spPr>
          <a:xfrm>
            <a:off x="338499" y="535522"/>
            <a:ext cx="6323212" cy="865537"/>
          </a:xfrm>
          <a:prstGeom prst="rect">
            <a:avLst/>
          </a:prstGeom>
          <a:noFill/>
        </p:spPr>
        <p:txBody>
          <a:bodyPr wrap="square" lIns="95250" tIns="95250" rIns="95250" bIns="95250" rtlCol="0" anchor="t"/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zh-CN" altLang="en-US" sz="4000" b="1" dirty="0">
                <a:sym typeface="+mn-ea"/>
              </a:rPr>
              <a:t>团队成员分工介绍</a:t>
            </a:r>
            <a:endParaRPr lang="zh-CN" altLang="en-US" sz="4000" dirty="0">
              <a:solidFill>
                <a:srgbClr val="4353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100"/>
          </p:nvPr>
        </p:nvSpPr>
        <p:spPr>
          <a:xfrm>
            <a:off x="221306" y="298272"/>
            <a:ext cx="8736511" cy="591217"/>
          </a:xfrm>
        </p:spPr>
        <p:txBody>
          <a:bodyPr/>
          <a:lstStyle/>
          <a:p>
            <a:r>
              <a:rPr lang="zh-CN" altLang="en-US" sz="2400" b="1">
                <a:solidFill>
                  <a:srgbClr val="43536A"/>
                </a:solidFill>
                <a:latin typeface="黑体" panose="02010609060101010101" pitchFamily="34" charset="-122"/>
                <a:ea typeface="黑体" panose="02010609060101010101" pitchFamily="34" charset="-122"/>
              </a:rPr>
              <a:t>团队分工：多学科交叉协作</a:t>
            </a:r>
          </a:p>
        </p:txBody>
      </p:sp>
      <p:pic>
        <p:nvPicPr>
          <p:cNvPr id="21" name="Image 1" descr="https://ike-mindshow-user.oss-cn-shanghai.aliyuncs.com/107/release/user_file/2025_05_06/0f7862d76fb9e031991b330399180e7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3265" y="152376"/>
            <a:ext cx="1880735" cy="418124"/>
          </a:xfrm>
          <a:prstGeom prst="rect">
            <a:avLst/>
          </a:prstGeom>
        </p:spPr>
      </p:pic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325120" y="999490"/>
          <a:ext cx="8751570" cy="2289810"/>
        </p:xfrm>
        <a:graphic>
          <a:graphicData uri="http://schemas.openxmlformats.org/drawingml/2006/table">
            <a:tbl>
              <a:tblPr/>
              <a:tblGrid>
                <a:gridCol w="13125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00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889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449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成员</a:t>
                      </a:r>
                      <a:endParaRPr lang="en-US" sz="1600" dirty="0">
                        <a:latin typeface="QuattrocentoSans" pitchFamily="34" charset="0"/>
                        <a:ea typeface="QuattrocentoSans" pitchFamily="34" charset="0"/>
                        <a:cs typeface="QuattrocentoSans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536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学科背景</a:t>
                      </a:r>
                      <a:endParaRPr lang="en-US" sz="1600" dirty="0">
                        <a:latin typeface="QuattrocentoSans" pitchFamily="34" charset="0"/>
                        <a:ea typeface="QuattrocentoSans" pitchFamily="34" charset="0"/>
                        <a:cs typeface="QuattrocentoSans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536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核心贡献</a:t>
                      </a:r>
                      <a:endParaRPr lang="en-US" sz="1600" dirty="0">
                        <a:latin typeface="QuattrocentoSans" pitchFamily="34" charset="0"/>
                        <a:ea typeface="QuattrocentoSans" pitchFamily="34" charset="0"/>
                        <a:cs typeface="QuattrocentoSans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53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5445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卢馨怡</a:t>
                      </a:r>
                      <a:endParaRPr lang="en-US" sz="1600" dirty="0">
                        <a:latin typeface="QuattrocentoSans" pitchFamily="34" charset="0"/>
                        <a:ea typeface="QuattrocentoSans" pitchFamily="34" charset="0"/>
                        <a:cs typeface="QuattrocentoSans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统筹管理</a:t>
                      </a:r>
                      <a:endParaRPr lang="en-US" sz="1600" dirty="0">
                        <a:latin typeface="QuattrocentoSans" pitchFamily="34" charset="0"/>
                        <a:ea typeface="QuattrocentoSans" pitchFamily="34" charset="0"/>
                        <a:cs typeface="QuattrocentoSans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项目规划、进度把控、团队协调</a:t>
                      </a:r>
                      <a:endParaRPr lang="en-US" sz="1600" dirty="0">
                        <a:latin typeface="QuattrocentoSans" pitchFamily="34" charset="0"/>
                        <a:ea typeface="QuattrocentoSans" pitchFamily="34" charset="0"/>
                        <a:cs typeface="QuattrocentoSans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5445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邓童心</a:t>
                      </a:r>
                      <a:endParaRPr lang="en-US" sz="1600" dirty="0">
                        <a:latin typeface="QuattrocentoSans" pitchFamily="34" charset="0"/>
                        <a:ea typeface="QuattrocentoSans" pitchFamily="34" charset="0"/>
                        <a:cs typeface="QuattrocentoSans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信息工程</a:t>
                      </a:r>
                      <a:endParaRPr lang="en-US" sz="1600" dirty="0">
                        <a:latin typeface="QuattrocentoSans" pitchFamily="34" charset="0"/>
                        <a:ea typeface="QuattrocentoSans" pitchFamily="34" charset="0"/>
                        <a:cs typeface="QuattrocentoSans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系统开发、AI 模型搭建、数字化展示</a:t>
                      </a:r>
                      <a:endParaRPr lang="en-US" sz="1600" dirty="0">
                        <a:latin typeface="QuattrocentoSans" pitchFamily="34" charset="0"/>
                        <a:ea typeface="QuattrocentoSans" pitchFamily="34" charset="0"/>
                        <a:cs typeface="QuattrocentoSans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354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谭贝贝</a:t>
                      </a:r>
                      <a:endParaRPr lang="en-US" sz="1600" dirty="0">
                        <a:latin typeface="QuattrocentoSans" pitchFamily="34" charset="0"/>
                        <a:ea typeface="QuattrocentoSans" pitchFamily="34" charset="0"/>
                        <a:cs typeface="QuattrocentoSans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民族学/文学</a:t>
                      </a:r>
                      <a:endParaRPr lang="en-US" sz="1600" dirty="0">
                        <a:latin typeface="QuattrocentoSans" pitchFamily="34" charset="0"/>
                        <a:ea typeface="QuattrocentoSans" pitchFamily="34" charset="0"/>
                        <a:cs typeface="QuattrocentoSans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申报书撰写、文献整理、问卷设计</a:t>
                      </a:r>
                      <a:endParaRPr lang="en-US" sz="1600" dirty="0">
                        <a:latin typeface="QuattrocentoSans" pitchFamily="34" charset="0"/>
                        <a:ea typeface="QuattrocentoSans" pitchFamily="34" charset="0"/>
                        <a:cs typeface="QuattrocentoSans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608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温山立</a:t>
                      </a:r>
                      <a:endParaRPr lang="en-US" sz="1600" dirty="0">
                        <a:latin typeface="QuattrocentoSans" pitchFamily="34" charset="0"/>
                        <a:ea typeface="QuattrocentoSans" pitchFamily="34" charset="0"/>
                        <a:cs typeface="QuattrocentoSans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法学</a:t>
                      </a:r>
                      <a:endParaRPr lang="en-US" sz="1600" dirty="0">
                        <a:latin typeface="QuattrocentoSans" pitchFamily="34" charset="0"/>
                        <a:ea typeface="QuattrocentoSans" pitchFamily="34" charset="0"/>
                        <a:cs typeface="QuattrocentoSans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法律案例检索、民族习惯法梳理、合规审查</a:t>
                      </a:r>
                      <a:endParaRPr lang="en-US" sz="1600" dirty="0">
                        <a:latin typeface="QuattrocentoSans" pitchFamily="34" charset="0"/>
                        <a:ea typeface="QuattrocentoSans" pitchFamily="34" charset="0"/>
                        <a:cs typeface="QuattrocentoSans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81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唐译舟</a:t>
                      </a:r>
                      <a:endParaRPr lang="en-US" sz="1600" dirty="0">
                        <a:latin typeface="QuattrocentoSans" pitchFamily="34" charset="0"/>
                        <a:ea typeface="QuattrocentoSans" pitchFamily="34" charset="0"/>
                        <a:cs typeface="QuattrocentoSans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哲学/答辩</a:t>
                      </a:r>
                      <a:endParaRPr lang="en-US" sz="1600" dirty="0">
                        <a:latin typeface="QuattrocentoSans" pitchFamily="34" charset="0"/>
                        <a:ea typeface="QuattrocentoSans" pitchFamily="34" charset="0"/>
                        <a:cs typeface="QuattrocentoSans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答辩陈述、对外沟通、PPT 与视频制作</a:t>
                      </a:r>
                      <a:endParaRPr lang="en-US" sz="1600" dirty="0">
                        <a:latin typeface="QuattrocentoSans" pitchFamily="34" charset="0"/>
                        <a:ea typeface="QuattrocentoSans" pitchFamily="34" charset="0"/>
                        <a:cs typeface="QuattrocentoSans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31" name="组合 30"/>
          <p:cNvGrpSpPr/>
          <p:nvPr/>
        </p:nvGrpSpPr>
        <p:grpSpPr>
          <a:xfrm>
            <a:off x="270510" y="3498850"/>
            <a:ext cx="11647126" cy="1205865"/>
            <a:chOff x="1200" y="9200"/>
            <a:chExt cx="22400" cy="3600"/>
          </a:xfrm>
        </p:grpSpPr>
        <p:sp>
          <p:nvSpPr>
            <p:cNvPr id="32" name="Shape 2"/>
            <p:cNvSpPr/>
            <p:nvPr/>
          </p:nvSpPr>
          <p:spPr>
            <a:xfrm>
              <a:off x="1200" y="9200"/>
              <a:ext cx="16786" cy="3600"/>
            </a:xfrm>
            <a:prstGeom prst="rect">
              <a:avLst/>
            </a:prstGeom>
            <a:solidFill>
              <a:srgbClr val="F1F5F9"/>
            </a:solidFill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" name="Text 3"/>
            <p:cNvSpPr/>
            <p:nvPr/>
          </p:nvSpPr>
          <p:spPr>
            <a:xfrm>
              <a:off x="1660" y="9502"/>
              <a:ext cx="8000" cy="700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2200" b="1" dirty="0">
                  <a:solidFill>
                    <a:srgbClr val="43536A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QuattrocentoSans" pitchFamily="34" charset="-120"/>
                </a:rPr>
                <a:t>团队亮点</a:t>
              </a:r>
            </a:p>
          </p:txBody>
        </p:sp>
        <p:sp>
          <p:nvSpPr>
            <p:cNvPr id="34" name="Shape 4"/>
            <p:cNvSpPr/>
            <p:nvPr/>
          </p:nvSpPr>
          <p:spPr>
            <a:xfrm>
              <a:off x="1660" y="10350"/>
              <a:ext cx="630" cy="961"/>
            </a:xfrm>
            <a:custGeom>
              <a:avLst/>
              <a:gdLst/>
              <a:ahLst/>
              <a:cxnLst/>
              <a:rect l="l" t="t" r="r" b="b"/>
              <a:pathLst>
                <a:path w="400050" h="355600">
                  <a:moveTo>
                    <a:pt x="33337" y="135989"/>
                  </a:moveTo>
                  <a:lnTo>
                    <a:pt x="178633" y="195788"/>
                  </a:lnTo>
                  <a:cubicBezTo>
                    <a:pt x="185440" y="198566"/>
                    <a:pt x="192663" y="200025"/>
                    <a:pt x="200025" y="200025"/>
                  </a:cubicBezTo>
                  <a:cubicBezTo>
                    <a:pt x="207387" y="200025"/>
                    <a:pt x="214610" y="198566"/>
                    <a:pt x="221417" y="195788"/>
                  </a:cubicBezTo>
                  <a:lnTo>
                    <a:pt x="389771" y="126474"/>
                  </a:lnTo>
                  <a:cubicBezTo>
                    <a:pt x="396022" y="123904"/>
                    <a:pt x="400050" y="117862"/>
                    <a:pt x="400050" y="111125"/>
                  </a:cubicBezTo>
                  <a:cubicBezTo>
                    <a:pt x="400050" y="104388"/>
                    <a:pt x="396022" y="98346"/>
                    <a:pt x="389771" y="95776"/>
                  </a:cubicBezTo>
                  <a:lnTo>
                    <a:pt x="221417" y="26462"/>
                  </a:lnTo>
                  <a:cubicBezTo>
                    <a:pt x="214610" y="23684"/>
                    <a:pt x="207387" y="22225"/>
                    <a:pt x="200025" y="22225"/>
                  </a:cubicBezTo>
                  <a:cubicBezTo>
                    <a:pt x="192663" y="22225"/>
                    <a:pt x="185440" y="23684"/>
                    <a:pt x="178633" y="26462"/>
                  </a:cubicBezTo>
                  <a:lnTo>
                    <a:pt x="10279" y="95776"/>
                  </a:lnTo>
                  <a:cubicBezTo>
                    <a:pt x="4028" y="98346"/>
                    <a:pt x="0" y="104388"/>
                    <a:pt x="0" y="111125"/>
                  </a:cubicBezTo>
                  <a:lnTo>
                    <a:pt x="0" y="316706"/>
                  </a:lnTo>
                  <a:cubicBezTo>
                    <a:pt x="0" y="325944"/>
                    <a:pt x="7431" y="333375"/>
                    <a:pt x="16669" y="333375"/>
                  </a:cubicBezTo>
                  <a:cubicBezTo>
                    <a:pt x="25906" y="333375"/>
                    <a:pt x="33337" y="325944"/>
                    <a:pt x="33337" y="316706"/>
                  </a:cubicBezTo>
                  <a:lnTo>
                    <a:pt x="33337" y="135989"/>
                  </a:lnTo>
                  <a:close/>
                  <a:moveTo>
                    <a:pt x="66675" y="185787"/>
                  </a:moveTo>
                  <a:lnTo>
                    <a:pt x="66675" y="266700"/>
                  </a:lnTo>
                  <a:cubicBezTo>
                    <a:pt x="66675" y="303510"/>
                    <a:pt x="126405" y="333375"/>
                    <a:pt x="200025" y="333375"/>
                  </a:cubicBezTo>
                  <a:cubicBezTo>
                    <a:pt x="273645" y="333375"/>
                    <a:pt x="333375" y="303510"/>
                    <a:pt x="333375" y="266700"/>
                  </a:cubicBezTo>
                  <a:lnTo>
                    <a:pt x="333375" y="185718"/>
                  </a:lnTo>
                  <a:lnTo>
                    <a:pt x="234126" y="226626"/>
                  </a:lnTo>
                  <a:cubicBezTo>
                    <a:pt x="223292" y="231071"/>
                    <a:pt x="211763" y="233362"/>
                    <a:pt x="200025" y="233362"/>
                  </a:cubicBezTo>
                  <a:cubicBezTo>
                    <a:pt x="188287" y="233362"/>
                    <a:pt x="176758" y="231071"/>
                    <a:pt x="165924" y="226626"/>
                  </a:cubicBezTo>
                  <a:lnTo>
                    <a:pt x="66675" y="185718"/>
                  </a:lnTo>
                  <a:close/>
                </a:path>
              </a:pathLst>
            </a:custGeom>
            <a:solidFill>
              <a:srgbClr val="A85A34"/>
            </a:solidFill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" name="Text 5"/>
            <p:cNvSpPr/>
            <p:nvPr/>
          </p:nvSpPr>
          <p:spPr>
            <a:xfrm>
              <a:off x="2396" y="10351"/>
              <a:ext cx="21204" cy="1300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>
                <a:lnSpc>
                  <a:spcPct val="100000"/>
                </a:lnSpc>
              </a:pPr>
              <a:r>
                <a:rPr lang="en-US" sz="1400" dirty="0">
                  <a:solidFill>
                    <a:srgbClr val="1E293B"/>
                  </a:solidFill>
                  <a:latin typeface="QuattrocentoSans" pitchFamily="34" charset="0"/>
                  <a:ea typeface="QuattrocentoSans" pitchFamily="34" charset="-122"/>
                  <a:cs typeface="QuattrocentoSans" pitchFamily="34" charset="-120"/>
                </a:rPr>
                <a:t>横跨 </a:t>
              </a:r>
              <a:r>
                <a:rPr lang="en-US" sz="1400" b="1" dirty="0">
                  <a:solidFill>
                    <a:srgbClr val="1E293B"/>
                  </a:solidFill>
                  <a:latin typeface="QuattrocentoSans" pitchFamily="34" charset="0"/>
                  <a:ea typeface="QuattrocentoSans" pitchFamily="34" charset="-122"/>
                  <a:cs typeface="QuattrocentoSans" pitchFamily="34" charset="-120"/>
                </a:rPr>
                <a:t>法学院、信息工程学院、中国少数民族语言文学学院、中华民族共同体学院、理学院</a:t>
              </a:r>
              <a:r>
                <a:rPr lang="en-US" sz="1400" dirty="0">
                  <a:solidFill>
                    <a:srgbClr val="1E293B"/>
                  </a:solidFill>
                  <a:latin typeface="QuattrocentoSans" pitchFamily="34" charset="0"/>
                  <a:ea typeface="QuattrocentoSans" pitchFamily="34" charset="-122"/>
                  <a:cs typeface="QuattrocentoSans" pitchFamily="34" charset="-120"/>
                </a:rPr>
                <a:t>五个学院，实</a:t>
              </a:r>
            </a:p>
            <a:p>
              <a:pPr>
                <a:lnSpc>
                  <a:spcPct val="100000"/>
                </a:lnSpc>
              </a:pPr>
              <a:r>
                <a:rPr lang="en-US" sz="1400" dirty="0">
                  <a:solidFill>
                    <a:srgbClr val="1E293B"/>
                  </a:solidFill>
                  <a:latin typeface="QuattrocentoSans" pitchFamily="34" charset="0"/>
                  <a:ea typeface="QuattrocentoSans" pitchFamily="34" charset="-122"/>
                  <a:cs typeface="QuattrocentoSans" pitchFamily="34" charset="-120"/>
                </a:rPr>
                <a:t>现真正的多学科融合</a:t>
              </a:r>
              <a:endParaRPr lang="en-US" sz="1400" dirty="0"/>
            </a:p>
          </p:txBody>
        </p:sp>
        <p:sp>
          <p:nvSpPr>
            <p:cNvPr id="36" name="Shape 6"/>
            <p:cNvSpPr/>
            <p:nvPr/>
          </p:nvSpPr>
          <p:spPr>
            <a:xfrm>
              <a:off x="1765" y="11900"/>
              <a:ext cx="420" cy="785"/>
            </a:xfrm>
            <a:custGeom>
              <a:avLst/>
              <a:gdLst/>
              <a:ahLst/>
              <a:cxnLst/>
              <a:rect l="l" t="t" r="r" b="b"/>
              <a:pathLst>
                <a:path w="266700" h="355600">
                  <a:moveTo>
                    <a:pt x="203428" y="266700"/>
                  </a:moveTo>
                  <a:cubicBezTo>
                    <a:pt x="208498" y="251212"/>
                    <a:pt x="218638" y="237182"/>
                    <a:pt x="230098" y="225098"/>
                  </a:cubicBezTo>
                  <a:cubicBezTo>
                    <a:pt x="252809" y="201206"/>
                    <a:pt x="266700" y="168910"/>
                    <a:pt x="266700" y="133350"/>
                  </a:cubicBezTo>
                  <a:cubicBezTo>
                    <a:pt x="266700" y="59730"/>
                    <a:pt x="206970" y="0"/>
                    <a:pt x="133350" y="0"/>
                  </a:cubicBezTo>
                  <a:cubicBezTo>
                    <a:pt x="59730" y="0"/>
                    <a:pt x="0" y="59730"/>
                    <a:pt x="0" y="133350"/>
                  </a:cubicBezTo>
                  <a:cubicBezTo>
                    <a:pt x="0" y="168910"/>
                    <a:pt x="13891" y="201206"/>
                    <a:pt x="36602" y="225098"/>
                  </a:cubicBezTo>
                  <a:cubicBezTo>
                    <a:pt x="48062" y="237182"/>
                    <a:pt x="58271" y="251212"/>
                    <a:pt x="63272" y="266700"/>
                  </a:cubicBezTo>
                  <a:lnTo>
                    <a:pt x="203359" y="266700"/>
                  </a:lnTo>
                  <a:close/>
                  <a:moveTo>
                    <a:pt x="200025" y="300038"/>
                  </a:moveTo>
                  <a:lnTo>
                    <a:pt x="66675" y="300038"/>
                  </a:lnTo>
                  <a:lnTo>
                    <a:pt x="66675" y="311150"/>
                  </a:lnTo>
                  <a:cubicBezTo>
                    <a:pt x="66675" y="341848"/>
                    <a:pt x="91539" y="366712"/>
                    <a:pt x="122238" y="366712"/>
                  </a:cubicBezTo>
                  <a:lnTo>
                    <a:pt x="144463" y="366712"/>
                  </a:lnTo>
                  <a:cubicBezTo>
                    <a:pt x="175161" y="366712"/>
                    <a:pt x="200025" y="341848"/>
                    <a:pt x="200025" y="311150"/>
                  </a:cubicBezTo>
                  <a:lnTo>
                    <a:pt x="200025" y="300038"/>
                  </a:lnTo>
                  <a:close/>
                  <a:moveTo>
                    <a:pt x="127794" y="77788"/>
                  </a:moveTo>
                  <a:cubicBezTo>
                    <a:pt x="100151" y="77788"/>
                    <a:pt x="77788" y="100151"/>
                    <a:pt x="77788" y="127794"/>
                  </a:cubicBezTo>
                  <a:cubicBezTo>
                    <a:pt x="77788" y="137031"/>
                    <a:pt x="70356" y="144463"/>
                    <a:pt x="61119" y="144463"/>
                  </a:cubicBezTo>
                  <a:cubicBezTo>
                    <a:pt x="51881" y="144463"/>
                    <a:pt x="44450" y="137031"/>
                    <a:pt x="44450" y="127794"/>
                  </a:cubicBezTo>
                  <a:cubicBezTo>
                    <a:pt x="44450" y="81746"/>
                    <a:pt x="81746" y="44450"/>
                    <a:pt x="127794" y="44450"/>
                  </a:cubicBezTo>
                  <a:cubicBezTo>
                    <a:pt x="137031" y="44450"/>
                    <a:pt x="144463" y="51881"/>
                    <a:pt x="144463" y="61119"/>
                  </a:cubicBezTo>
                  <a:cubicBezTo>
                    <a:pt x="144463" y="70356"/>
                    <a:pt x="137031" y="77788"/>
                    <a:pt x="127794" y="77788"/>
                  </a:cubicBezTo>
                  <a:close/>
                </a:path>
              </a:pathLst>
            </a:custGeom>
            <a:solidFill>
              <a:srgbClr val="A85A34"/>
            </a:solidFill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" name="Text 7"/>
            <p:cNvSpPr/>
            <p:nvPr/>
          </p:nvSpPr>
          <p:spPr>
            <a:xfrm>
              <a:off x="2600" y="11800"/>
              <a:ext cx="21000" cy="800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>
                <a:lnSpc>
                  <a:spcPct val="150000"/>
                </a:lnSpc>
              </a:pPr>
              <a:endParaRPr lang="en-US" sz="1400" dirty="0"/>
            </a:p>
          </p:txBody>
        </p:sp>
      </p:grpSp>
      <p:sp>
        <p:nvSpPr>
          <p:cNvPr id="38" name="文本框 37"/>
          <p:cNvSpPr txBox="1"/>
          <p:nvPr/>
        </p:nvSpPr>
        <p:spPr>
          <a:xfrm>
            <a:off x="782955" y="4369435"/>
            <a:ext cx="80156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1E293B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实现"</a:t>
            </a:r>
            <a:r>
              <a:rPr lang="en-US" sz="1400" b="1" dirty="0">
                <a:solidFill>
                  <a:srgbClr val="1E293B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技术 + 法学 + 民族学</a:t>
            </a:r>
            <a:r>
              <a:rPr lang="en-US" sz="1400" dirty="0">
                <a:solidFill>
                  <a:srgbClr val="1E293B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"的 </a:t>
            </a:r>
            <a:r>
              <a:rPr lang="en-US" sz="1400" b="1" dirty="0">
                <a:solidFill>
                  <a:srgbClr val="1E293B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T 型交叉创新</a:t>
            </a:r>
            <a:r>
              <a:rPr lang="en-US" sz="1400" dirty="0">
                <a:solidFill>
                  <a:srgbClr val="1E293B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，技术与社科深度融合</a:t>
            </a:r>
            <a:endParaRPr lang="zh-CN" altLang="en-US" sz="14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84996" y="2156484"/>
            <a:ext cx="4224528" cy="889968"/>
          </a:xfrm>
          <a:prstGeom prst="rect">
            <a:avLst/>
          </a:prstGeom>
          <a:noFill/>
        </p:spPr>
        <p:txBody>
          <a:bodyPr wrap="square" lIns="95250" tIns="95250" rIns="95250" bIns="95250" rtlCol="0" anchor="t"/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5100" dirty="0">
                <a:solidFill>
                  <a:srgbClr val="43536A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 </a:t>
            </a:r>
            <a:endParaRPr lang="en-US" sz="1500" dirty="0"/>
          </a:p>
        </p:txBody>
      </p:sp>
      <p:pic>
        <p:nvPicPr>
          <p:cNvPr id="21" name="Image 1" descr="https://ike-mindshow-user.oss-cn-shanghai.aliyuncs.com/107/release/user_file/2025_05_06/0f7862d76fb9e031991b330399180e7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3265" y="152376"/>
            <a:ext cx="1880735" cy="418124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2143125" y="1315720"/>
            <a:ext cx="4416425" cy="3353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4000">
              <a:solidFill>
                <a:srgbClr val="43536A"/>
              </a:solidFill>
            </a:endParaRPr>
          </a:p>
          <a:p>
            <a:pPr algn="ctr"/>
            <a:r>
              <a:rPr lang="zh-CN" altLang="en-US" sz="4000">
                <a:solidFill>
                  <a:srgbClr val="43536A"/>
                </a:solidFill>
              </a:rPr>
              <a:t>感谢聆听</a:t>
            </a:r>
          </a:p>
          <a:p>
            <a:pPr algn="ctr"/>
            <a:endParaRPr lang="en-US" sz="2000" dirty="0">
              <a:solidFill>
                <a:srgbClr val="43536A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  <a:sym typeface="+mn-ea"/>
            </a:endParaRPr>
          </a:p>
          <a:p>
            <a:pPr algn="ctr"/>
            <a:endParaRPr lang="en-US" sz="2000" dirty="0">
              <a:solidFill>
                <a:srgbClr val="43536A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  <a:sym typeface="+mn-ea"/>
            </a:endParaRPr>
          </a:p>
          <a:p>
            <a:pPr algn="ctr"/>
            <a:endParaRPr lang="en-US" sz="2000" dirty="0">
              <a:solidFill>
                <a:srgbClr val="43536A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  <a:sym typeface="+mn-ea"/>
            </a:endParaRPr>
          </a:p>
          <a:p>
            <a:pPr algn="ctr"/>
            <a:r>
              <a:rPr lang="en-US" sz="2000" dirty="0">
                <a:solidFill>
                  <a:srgbClr val="43536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  <a:sym typeface="+mn-ea"/>
              </a:rPr>
              <a:t>中央民族大学理学院</a:t>
            </a:r>
            <a:endParaRPr lang="en-US" sz="2000" dirty="0">
              <a:solidFill>
                <a:srgbClr val="43536A"/>
              </a:solidFill>
            </a:endParaRPr>
          </a:p>
          <a:p>
            <a:pPr algn="ctr">
              <a:lnSpc>
                <a:spcPct val="160000"/>
              </a:lnSpc>
            </a:pPr>
            <a:r>
              <a:rPr lang="en-US" sz="2000" dirty="0">
                <a:solidFill>
                  <a:srgbClr val="43536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  <a:sym typeface="+mn-ea"/>
              </a:rPr>
              <a:t>2026年5月</a:t>
            </a:r>
            <a:endParaRPr lang="en-US" sz="2000" dirty="0">
              <a:solidFill>
                <a:srgbClr val="43536A"/>
              </a:solidFill>
            </a:endParaRPr>
          </a:p>
          <a:p>
            <a:pPr algn="ctr"/>
            <a:endParaRPr lang="en-US" altLang="en-US" sz="2000" dirty="0">
              <a:solidFill>
                <a:srgbClr val="43536A"/>
              </a:solidFill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4.2462992125988,&quot;left&quot;:20.782755905511817,&quot;top&quot;:108.15204724409446,&quot;width&quot;:691.073858267717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4.2462992125988,&quot;left&quot;:20.782755905511817,&quot;top&quot;:108.15204724409446,&quot;width&quot;:691.073858267717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4.2462992125988,&quot;left&quot;:20.782755905511817,&quot;top&quot;:108.15204724409446,&quot;width&quot;:691.073858267717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4.2462992125988,&quot;left&quot;:20.782755905511817,&quot;top&quot;:108.15204724409446,&quot;width&quot;:691.073858267717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4.2462992125988,&quot;left&quot;:20.782755905511817,&quot;top&quot;:108.15204724409446,&quot;width&quot;:691.073858267717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4.2462992125988,&quot;left&quot;:20.782755905511817,&quot;top&quot;:108.15204724409446,&quot;width&quot;:691.073858267717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4.2462992125988,&quot;left&quot;:20.782755905511817,&quot;top&quot;:108.15204724409446,&quot;width&quot;:691.073858267717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4.2462992125988,&quot;left&quot;:20.782755905511817,&quot;top&quot;:108.15204724409446,&quot;width&quot;:691.073858267717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4.2462992125988,&quot;left&quot;:20.782755905511817,&quot;top&quot;:108.15204724409446,&quot;width&quot;:691.073858267717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4.2462992125988,&quot;left&quot;:20.782755905511817,&quot;top&quot;:108.15204724409446,&quot;width&quot;:691.073858267717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4.2462992125988,&quot;left&quot;:20.782755905511817,&quot;top&quot;:108.15204724409446,&quot;width&quot;:691.073858267717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4.2462992125988,&quot;left&quot;:20.782755905511817,&quot;top&quot;:108.15204724409446,&quot;width&quot;:691.073858267717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4.2462992125988,&quot;left&quot;:20.782755905511817,&quot;top&quot;:108.15204724409446,&quot;width&quot;:691.073858267717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4.2462992125988,&quot;left&quot;:20.782755905511817,&quot;top&quot;:108.15204724409446,&quot;width&quot;:691.073858267717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4.2462992125988,&quot;left&quot;:20.782755905511817,&quot;top&quot;:108.15204724409446,&quot;width&quot;:691.073858267717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5.05,&quot;left&quot;:40.3,&quot;top&quot;:53.25,&quot;width&quot;:582.5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502</Words>
  <Application>Microsoft Office PowerPoint</Application>
  <PresentationFormat>全屏显示(16:9)</PresentationFormat>
  <Paragraphs>98</Paragraphs>
  <Slides>13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5" baseType="lpstr">
      <vt:lpstr>QuattrocentoSans</vt:lpstr>
      <vt:lpstr>阿里巴巴普惠体 Medium</vt:lpstr>
      <vt:lpstr>黑体</vt:lpstr>
      <vt:lpstr>华文宋体</vt:lpstr>
      <vt:lpstr>华文中宋</vt:lpstr>
      <vt:lpstr>宋体</vt:lpstr>
      <vt:lpstr>微软雅黑</vt:lpstr>
      <vt:lpstr>Arial</vt:lpstr>
      <vt:lpstr>Calibri</vt:lpstr>
      <vt:lpstr>Quattrocento Sans</vt:lpstr>
      <vt:lpstr>Times New Roman</vt:lpstr>
      <vt:lpstr>Office Theme</vt:lpstr>
      <vt:lpstr>PowerPoint 演示文稿</vt:lpstr>
      <vt:lpstr>PowerPoint 演示文稿</vt:lpstr>
      <vt:lpstr>01</vt:lpstr>
      <vt:lpstr>研究目标和方法</vt:lpstr>
      <vt:lpstr>02</vt:lpstr>
      <vt:lpstr>项目进展       </vt:lpstr>
      <vt:lpstr>项目成果 </vt:lpstr>
      <vt:lpstr>项目成果</vt:lpstr>
      <vt:lpstr>项目成果</vt:lpstr>
      <vt:lpstr>PowerPoint 演示文稿</vt:lpstr>
      <vt:lpstr>03</vt:lpstr>
      <vt:lpstr>团队分工：多学科交叉协作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Deng</dc:creator>
  <cp:lastModifiedBy>一夏 邓</cp:lastModifiedBy>
  <cp:revision>43</cp:revision>
  <dcterms:created xsi:type="dcterms:W3CDTF">2025-11-01T09:22:00Z</dcterms:created>
  <dcterms:modified xsi:type="dcterms:W3CDTF">2026-05-21T08:24:58Z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{"Label":"MindShow AIPPT","ContentProducer":"MindShow","ProducelD":"mindshow","ReservedCodel":"1","ContentPropagator":"mindshow","PropagatelD":"1","ReservedCode2":"0"}</vt:lpwstr>
  </property>
  <property fmtid="{D5CDD505-2E9C-101B-9397-08002B2CF9AE}" pid="3" name="ICV">
    <vt:lpwstr>2FFFFD88F0E440FB97ED1BE2C0929455_13</vt:lpwstr>
  </property>
  <property fmtid="{D5CDD505-2E9C-101B-9397-08002B2CF9AE}" pid="4" name="KSOProductBuildVer">
    <vt:lpwstr>2052-12.1.0.26375</vt:lpwstr>
  </property>
</Properties>
</file>